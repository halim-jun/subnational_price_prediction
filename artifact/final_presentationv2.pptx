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0" r:id="rId3"/>
    <p:sldId id="281" r:id="rId4"/>
    <p:sldId id="286" r:id="rId5"/>
    <p:sldId id="284" r:id="rId6"/>
    <p:sldId id="257" r:id="rId7"/>
    <p:sldId id="258" r:id="rId8"/>
    <p:sldId id="283" r:id="rId9"/>
    <p:sldId id="259" r:id="rId10"/>
    <p:sldId id="260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1B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32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Calibri"/>
              </a:defRPr>
            </a:pPr>
            <a:r>
              <a:t>Subnational Food Price Prediction</a:t>
            </a:r>
            <a:br/>
            <a:r>
              <a:t>in East Africa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Integrating Climate, Conflict, and Socioeconomic Data for Admin2-Level Forecasting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023360"/>
            <a:ext cx="3657600" cy="27432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Calibri"/>
              </a:defRPr>
            </a:pPr>
            <a:r>
              <a:t>Kenya  &amp;  Somalia  |  XGBoost (Gradient Boosting)  |  Spatio-Temporal Cross-Validation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828800" cy="3810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505200" cy="4114800"/>
          </a:xfrm>
          <a:prstGeom prst="roundRect">
            <a:avLst/>
          </a:prstGeom>
          <a:solidFill>
            <a:srgbClr val="2A2A48"/>
          </a:solidFill>
          <a:ln w="12700">
            <a:solidFill>
              <a:srgbClr val="3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48640" cy="38100"/>
          </a:xfrm>
          <a:prstGeom prst="rect">
            <a:avLst/>
          </a:prstGeom>
          <a:solidFill>
            <a:srgbClr val="5C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313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139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0B8C8"/>
                </a:solidFill>
                <a:latin typeface="Calibri"/>
              </a:rPr>
              <a:t>8 data sources merged at Admin2 level</a:t>
            </a:r>
          </a:p>
          <a:p>
            <a:pPr algn="l">
              <a:spcAft>
                <a:spcPts val="400"/>
              </a:spcAft>
            </a:pPr>
            <a:endParaRPr sz="1300" b="0">
              <a:solidFill>
                <a:srgbClr val="B0B8C8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8A94AD"/>
                </a:solidFill>
                <a:latin typeface="Calibri"/>
              </a:rPr>
              <a:t>Format:  Data type — Source</a:t>
            </a:r>
          </a:p>
          <a:p>
            <a:pPr algn="l">
              <a:spcAft>
                <a:spcPts val="400"/>
              </a:spcAft>
            </a:pPr>
            <a:endParaRPr sz="1100" b="0">
              <a:solidFill>
                <a:srgbClr val="8A94AD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  Climate (SPI)  — CHIRPS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  Soil moisture / temp  — FLDAS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  Vegetation (NDVI)  — MODIS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  Conflict events  — ACLED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  Food prices  — WFP / World Bank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  Food security (IPC)  — FEWS NET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  Night lights  — NASA Black Marble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  Crop fraction  — Dynamic World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91000" y="1188720"/>
            <a:ext cx="3505200" cy="4114800"/>
          </a:xfrm>
          <a:prstGeom prst="roundRect">
            <a:avLst/>
          </a:prstGeom>
          <a:solidFill>
            <a:srgbClr val="2A2A48"/>
          </a:solidFill>
          <a:ln w="12700">
            <a:solidFill>
              <a:srgbClr val="3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73880" y="1371600"/>
            <a:ext cx="548640" cy="38100"/>
          </a:xfrm>
          <a:prstGeom prst="rect">
            <a:avLst/>
          </a:prstGeom>
          <a:solidFill>
            <a:srgbClr val="F59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73880" y="1508760"/>
            <a:ext cx="313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3880" y="2011680"/>
            <a:ext cx="3139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0B8C8"/>
                </a:solidFill>
                <a:latin typeface="Calibri"/>
              </a:rPr>
              <a:t>Admin2-level price prediction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0B8C8"/>
                </a:solidFill>
                <a:latin typeface="Calibri"/>
              </a:rPr>
              <a:t>at 1, 2, 3 month horizons</a:t>
            </a:r>
          </a:p>
          <a:p>
            <a:pPr algn="l">
              <a:spcAft>
                <a:spcPts val="400"/>
              </a:spcAft>
            </a:pPr>
            <a:endParaRPr sz="1300" b="0">
              <a:solidFill>
                <a:srgbClr val="B0B8C8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 Target Variables:</a:t>
            </a:r>
          </a:p>
          <a:p>
            <a:pPr algn="l">
              <a:spcAft>
                <a:spcPts val="400"/>
              </a:spcAft>
            </a:pPr>
            <a:endParaRPr sz="1300" b="1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59E4E"/>
                </a:solidFill>
                <a:latin typeface="Calibri"/>
              </a:rPr>
              <a:t>  Food Price Index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59E4E"/>
                </a:solidFill>
                <a:latin typeface="Calibri"/>
              </a:rPr>
              <a:t>  Maize (FAO)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59E4E"/>
                </a:solidFill>
                <a:latin typeface="Calibri"/>
              </a:rPr>
              <a:t>  Sorghum</a:t>
            </a:r>
          </a:p>
          <a:p>
            <a:pPr algn="l">
              <a:spcAft>
                <a:spcPts val="400"/>
              </a:spcAft>
            </a:pPr>
            <a:endParaRPr sz="1200" b="0">
              <a:solidFill>
                <a:srgbClr val="F59E4E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Countries:</a:t>
            </a:r>
          </a:p>
          <a:p>
            <a:pPr algn="l">
              <a:spcAft>
                <a:spcPts val="400"/>
              </a:spcAft>
            </a:pPr>
            <a:endParaRPr sz="1300" b="1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  Kenya  &amp;  Somalia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4800" y="1188720"/>
            <a:ext cx="3505200" cy="4114800"/>
          </a:xfrm>
          <a:prstGeom prst="roundRect">
            <a:avLst/>
          </a:prstGeom>
          <a:solidFill>
            <a:srgbClr val="2A2A48"/>
          </a:solidFill>
          <a:ln w="12700">
            <a:solidFill>
              <a:srgbClr val="3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07680" y="1371600"/>
            <a:ext cx="548640" cy="3810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07680" y="1508760"/>
            <a:ext cx="313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7680" y="2011680"/>
            <a:ext cx="3139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0B8C8"/>
                </a:solidFill>
                <a:latin typeface="Calibri"/>
              </a:rPr>
              <a:t>XGBoost (Gradient Boosting)</a:t>
            </a:r>
          </a:p>
          <a:p>
            <a:pPr algn="l">
              <a:spcAft>
                <a:spcPts val="400"/>
              </a:spcAft>
            </a:pPr>
            <a:endParaRPr sz="1300" b="0">
              <a:solidFill>
                <a:srgbClr val="B0B8C8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Evaluation:</a:t>
            </a:r>
          </a:p>
          <a:p>
            <a:pPr algn="l">
              <a:spcAft>
                <a:spcPts val="400"/>
              </a:spcAft>
            </a:pPr>
            <a:endParaRPr sz="1300" b="1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E9AF5"/>
                </a:solidFill>
                <a:latin typeface="Calibri"/>
              </a:rPr>
              <a:t>  Spatio-Temporal CV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B0B8C8"/>
                </a:solidFill>
                <a:latin typeface="Calibri"/>
              </a:rPr>
              <a:t>  (Leave-Disc-Out spatial folds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B0B8C8"/>
                </a:solidFill>
                <a:latin typeface="Calibri"/>
              </a:rPr>
              <a:t>   + Expanding-window temporal)</a:t>
            </a:r>
          </a:p>
          <a:p>
            <a:pPr algn="l">
              <a:spcAft>
                <a:spcPts val="400"/>
              </a:spcAft>
            </a:pPr>
            <a:endParaRPr sz="1100" b="0">
              <a:solidFill>
                <a:srgbClr val="B0B8C8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E9AF5"/>
                </a:solidFill>
                <a:latin typeface="Calibri"/>
              </a:rPr>
              <a:t>  Holdout evaluation (2024+)</a:t>
            </a:r>
          </a:p>
          <a:p>
            <a:pPr algn="l">
              <a:spcAft>
                <a:spcPts val="400"/>
              </a:spcAft>
            </a:pPr>
            <a:endParaRPr sz="1200" b="0">
              <a:solidFill>
                <a:srgbClr val="4E9AF5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Dashboard: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  Next.js + FastAPI</a:t>
            </a:r>
          </a:p>
        </p:txBody>
      </p:sp>
    </p:spTree>
    <p:extLst>
      <p:ext uri="{BB962C8B-B14F-4D97-AF65-F5344CB8AC3E}">
        <p14:creationId xmlns:p14="http://schemas.microsoft.com/office/powerpoint/2010/main" val="1495830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Model &amp;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828800" cy="3810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5486400"/>
          </a:xfrm>
          <a:prstGeom prst="roundRect">
            <a:avLst/>
          </a:prstGeom>
          <a:solidFill>
            <a:srgbClr val="2A2A48"/>
          </a:solidFill>
          <a:ln w="12700">
            <a:solidFill>
              <a:srgbClr val="3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365760" cy="38100"/>
          </a:xfrm>
          <a:prstGeom prst="rect">
            <a:avLst/>
          </a:prstGeom>
          <a:solidFill>
            <a:srgbClr val="5C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Spatio-Temporal Cross-Validation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Spatial:  Leave-Disc-Out (5 folds, 350km radius)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Temporal:  Expanding window (3 folds)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CD68A"/>
                </a:solidFill>
                <a:latin typeface="Calibri"/>
              </a:rPr>
              <a:t>Combined:  5 x 3 = 15 fold combos per target x horizon</a:t>
            </a:r>
          </a:p>
          <a:p>
            <a:pPr algn="l">
              <a:spcAft>
                <a:spcPts val="400"/>
              </a:spcAft>
            </a:pPr>
            <a:endParaRPr sz="1200" b="0">
              <a:solidFill>
                <a:srgbClr val="5CD68A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8A94AD"/>
                </a:solidFill>
                <a:latin typeface="Calibri"/>
              </a:rPr>
              <a:t>Prevents spatial autocorrelation leakage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8A94AD"/>
                </a:solidFill>
                <a:latin typeface="Calibri"/>
              </a:rPr>
              <a:t>and temporal information leakage simultaneously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200400"/>
            <a:ext cx="4754880" cy="12700"/>
          </a:xfrm>
          <a:prstGeom prst="rect">
            <a:avLst/>
          </a:prstGeom>
          <a:solidFill>
            <a:srgbClr val="3A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3383280"/>
            <a:ext cx="365760" cy="38100"/>
          </a:xfrm>
          <a:prstGeom prst="rect">
            <a:avLst/>
          </a:prstGeom>
          <a:solidFill>
            <a:srgbClr val="E0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Leakage Prevention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Price features:  lag 1,2,3,6,12 months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  + rolling means/stds + YoY change</a:t>
            </a:r>
          </a:p>
          <a:p>
            <a:pPr algn="l">
              <a:spcAft>
                <a:spcPts val="400"/>
              </a:spcAft>
            </a:pPr>
            <a:endParaRPr sz="1200" b="0">
              <a:solidFill>
                <a:srgbClr val="B0B8C8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06C75"/>
                </a:solidFill>
                <a:latin typeface="Calibri"/>
              </a:rPr>
              <a:t>Exogenous features:  ALL lagged by h months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  (conflict, FLDAS, vegetation, climate)</a:t>
            </a:r>
          </a:p>
          <a:p>
            <a:pPr algn="l">
              <a:spcAft>
                <a:spcPts val="400"/>
              </a:spcAft>
            </a:pPr>
            <a:endParaRPr sz="1200" b="0">
              <a:solidFill>
                <a:srgbClr val="B0B8C8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12-month warmup:  drops first 12 rows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  per admin2 to build lag features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097280"/>
            <a:ext cx="5334000" cy="5486400"/>
          </a:xfrm>
          <a:prstGeom prst="roundRect">
            <a:avLst/>
          </a:prstGeom>
          <a:solidFill>
            <a:srgbClr val="2A2A48"/>
          </a:solidFill>
          <a:ln w="12700">
            <a:solidFill>
              <a:srgbClr val="3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0" y="1280160"/>
            <a:ext cx="365760" cy="3810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1371600"/>
            <a:ext cx="496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828800"/>
            <a:ext cx="4968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4E9AF5"/>
                </a:solidFill>
                <a:latin typeface="Calibri"/>
              </a:rPr>
              <a:t>Spatio-Temporal CV Results</a:t>
            </a:r>
          </a:p>
          <a:p>
            <a:pPr algn="l">
              <a:spcAft>
                <a:spcPts val="400"/>
              </a:spcAft>
            </a:pPr>
            <a:endParaRPr sz="1300" b="1">
              <a:solidFill>
                <a:srgbClr val="4E9AF5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8A94AD"/>
                </a:solidFill>
                <a:latin typeface="Calibri"/>
              </a:rPr>
              <a:t>(metrics placeholder — add your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8A94AD"/>
                </a:solidFill>
                <a:latin typeface="Calibri"/>
              </a:rPr>
              <a:t> actual R², MAPE, RMSE here)</a:t>
            </a:r>
          </a:p>
          <a:p>
            <a:pPr algn="l">
              <a:spcAft>
                <a:spcPts val="400"/>
              </a:spcAft>
            </a:pPr>
            <a:endParaRPr sz="1200" b="0">
              <a:solidFill>
                <a:srgbClr val="8A94AD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4E9AF5"/>
                </a:solidFill>
                <a:latin typeface="Calibri"/>
              </a:rPr>
              <a:t>Holdout Evaluation (2024+)</a:t>
            </a:r>
          </a:p>
          <a:p>
            <a:pPr algn="l">
              <a:spcAft>
                <a:spcPts val="400"/>
              </a:spcAft>
            </a:pPr>
            <a:endParaRPr sz="1300" b="1">
              <a:solidFill>
                <a:srgbClr val="4E9AF5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8A94AD"/>
                </a:solidFill>
                <a:latin typeface="Calibri"/>
              </a:rPr>
              <a:t>(metrics placeholder — add your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8A94AD"/>
                </a:solidFill>
                <a:latin typeface="Calibri"/>
              </a:rPr>
              <a:t> actual results here)</a:t>
            </a:r>
          </a:p>
          <a:p>
            <a:pPr algn="l">
              <a:spcAft>
                <a:spcPts val="400"/>
              </a:spcAft>
            </a:pPr>
            <a:endParaRPr sz="1200" b="0">
              <a:solidFill>
                <a:srgbClr val="8A94AD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4E9AF5"/>
                </a:solidFill>
                <a:latin typeface="Calibri"/>
              </a:rPr>
              <a:t>Per-Country Breakdown</a:t>
            </a:r>
          </a:p>
          <a:p>
            <a:pPr algn="l">
              <a:spcAft>
                <a:spcPts val="400"/>
              </a:spcAft>
            </a:pPr>
            <a:endParaRPr sz="1300" b="1">
              <a:solidFill>
                <a:srgbClr val="4E9AF5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  Kenya:    (add metrics)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  Somalia:  (add metrics)</a:t>
            </a:r>
          </a:p>
        </p:txBody>
      </p:sp>
    </p:spTree>
    <p:extLst>
      <p:ext uri="{BB962C8B-B14F-4D97-AF65-F5344CB8AC3E}">
        <p14:creationId xmlns:p14="http://schemas.microsoft.com/office/powerpoint/2010/main" val="1985163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F6AF8F-651D-ACF6-85F6-496600B42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Challenges &amp; 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828800" cy="3810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4571999"/>
          </a:xfrm>
          <a:prstGeom prst="roundRect">
            <a:avLst/>
          </a:prstGeom>
          <a:solidFill>
            <a:srgbClr val="2A2A48"/>
          </a:solidFill>
          <a:ln w="12700">
            <a:solidFill>
              <a:srgbClr val="3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457200" cy="457200"/>
          </a:xfrm>
          <a:prstGeom prst="roundRect">
            <a:avLst/>
          </a:prstGeom>
          <a:solidFill>
            <a:srgbClr val="E0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4630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Data Unavailability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06C75"/>
                </a:solidFill>
                <a:latin typeface="Calibri"/>
              </a:rPr>
              <a:t>Challenge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WFP price data is sparse and mixes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wholesale &amp; retail prices (도매 &amp; 소매가)</a:t>
            </a:r>
          </a:p>
          <a:p>
            <a:pPr algn="l">
              <a:spcAft>
                <a:spcPts val="400"/>
              </a:spcAft>
            </a:pPr>
            <a:endParaRPr sz="1200" b="0">
              <a:solidFill>
                <a:srgbClr val="B0B8C8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5CD68A"/>
                </a:solidFill>
                <a:latin typeface="Calibri"/>
              </a:rPr>
              <a:t>Solution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Utilized World Bank processed dataset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that applied chained linear regression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to impute missing subnational prices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8A94AD"/>
                </a:solidFill>
                <a:latin typeface="Calibri"/>
              </a:rPr>
              <a:t>(Andrée 2021, WB Working Paper 9886)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400" y="1188720"/>
            <a:ext cx="5486400" cy="4571999"/>
          </a:xfrm>
          <a:prstGeom prst="roundRect">
            <a:avLst/>
          </a:prstGeom>
          <a:solidFill>
            <a:srgbClr val="2A2A48"/>
          </a:solidFill>
          <a:ln w="12700">
            <a:solidFill>
              <a:srgbClr val="3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31280" y="1417320"/>
            <a:ext cx="457200" cy="457200"/>
          </a:xfrm>
          <a:prstGeom prst="roundRect">
            <a:avLst/>
          </a:prstGeom>
          <a:solidFill>
            <a:srgbClr val="F59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3128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79920" y="14630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Feature Quality &amp; Timeliness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1280" y="2103120"/>
            <a:ext cx="512064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F59E4E"/>
                </a:solidFill>
                <a:latin typeface="Calibri"/>
              </a:rPr>
              <a:t>Challenge</a:t>
            </a: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B0B8C8"/>
                </a:solidFill>
                <a:latin typeface="Calibri"/>
              </a:rPr>
              <a:t>Many datasets are not raw data but</a:t>
            </a: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B0B8C8"/>
                </a:solidFill>
                <a:latin typeface="Calibri"/>
              </a:rPr>
              <a:t>already processed / modeled outputs</a:t>
            </a:r>
            <a:r>
              <a:rPr lang="en-US" sz="1200" b="0" dirty="0">
                <a:solidFill>
                  <a:srgbClr val="B0B8C8"/>
                </a:solidFill>
                <a:latin typeface="Calibri"/>
              </a:rPr>
              <a:t> -&gt; Need to understand the dataset’s accuracy</a:t>
            </a:r>
            <a:endParaRPr sz="1200" b="0" dirty="0">
              <a:solidFill>
                <a:srgbClr val="B0B8C8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100" b="0" dirty="0">
                <a:solidFill>
                  <a:srgbClr val="8A94AD"/>
                </a:solidFill>
                <a:latin typeface="Calibri"/>
              </a:rPr>
              <a:t>Ex) Crop production, land cover type data</a:t>
            </a:r>
          </a:p>
          <a:p>
            <a:pPr algn="l">
              <a:spcAft>
                <a:spcPts val="400"/>
              </a:spcAft>
            </a:pPr>
            <a:endParaRPr sz="1100" b="0" dirty="0">
              <a:solidFill>
                <a:srgbClr val="8A94AD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5CD68A"/>
                </a:solidFill>
                <a:latin typeface="Calibri"/>
              </a:rPr>
              <a:t>Solution</a:t>
            </a: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B0B8C8"/>
                </a:solidFill>
                <a:latin typeface="Calibri"/>
              </a:rPr>
              <a:t>Thoroughly examined each source's</a:t>
            </a: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B0B8C8"/>
                </a:solidFill>
                <a:latin typeface="Calibri"/>
              </a:rPr>
              <a:t>accuracy, methodology, and update cycle</a:t>
            </a: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B0B8C8"/>
                </a:solidFill>
                <a:latin typeface="Calibri"/>
              </a:rPr>
              <a:t>(</a:t>
            </a:r>
            <a:r>
              <a:rPr sz="1200" b="0" dirty="0" err="1">
                <a:solidFill>
                  <a:srgbClr val="B0B8C8"/>
                </a:solidFill>
                <a:latin typeface="Calibri"/>
              </a:rPr>
              <a:t>업데이트</a:t>
            </a:r>
            <a:r>
              <a:rPr sz="1200" b="0" dirty="0">
                <a:solidFill>
                  <a:srgbClr val="B0B8C8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B0B8C8"/>
                </a:solidFill>
                <a:latin typeface="Calibri"/>
              </a:rPr>
              <a:t>주기</a:t>
            </a:r>
            <a:r>
              <a:rPr sz="1200" b="0" dirty="0">
                <a:solidFill>
                  <a:srgbClr val="B0B8C8"/>
                </a:solidFill>
                <a:latin typeface="Calibri"/>
              </a:rPr>
              <a:t> — data available only up to</a:t>
            </a: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B0B8C8"/>
                </a:solidFill>
                <a:latin typeface="Calibri"/>
              </a:rPr>
              <a:t> 1 year ago is not useful for forecasting)</a:t>
            </a:r>
          </a:p>
        </p:txBody>
      </p:sp>
    </p:spTree>
    <p:extLst>
      <p:ext uri="{BB962C8B-B14F-4D97-AF65-F5344CB8AC3E}">
        <p14:creationId xmlns:p14="http://schemas.microsoft.com/office/powerpoint/2010/main" val="1714106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Future: Implementation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828800" cy="3810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4571999"/>
          </a:xfrm>
          <a:prstGeom prst="roundRect">
            <a:avLst/>
          </a:prstGeom>
          <a:solidFill>
            <a:srgbClr val="2A2A48"/>
          </a:solidFill>
          <a:ln w="12700">
            <a:solidFill>
              <a:srgbClr val="3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48640" cy="38100"/>
          </a:xfrm>
          <a:prstGeom prst="rect">
            <a:avLst/>
          </a:prstGeom>
          <a:solidFill>
            <a:srgbClr val="C08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Improve the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08FF5"/>
                </a:solidFill>
                <a:latin typeface="Calibri"/>
              </a:rPr>
              <a:t>Advanced Spatial Feature Engineering</a:t>
            </a:r>
          </a:p>
          <a:p>
            <a:pPr algn="l">
              <a:spcAft>
                <a:spcPts val="400"/>
              </a:spcAft>
            </a:pPr>
            <a:endParaRPr sz="1300" b="1">
              <a:solidFill>
                <a:srgbClr val="C08FF5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Current:  Simple spatial join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8A94AD"/>
                </a:solidFill>
                <a:latin typeface="Calibri"/>
              </a:rPr>
              <a:t>(if from same zone/space -&gt; merge)</a:t>
            </a:r>
          </a:p>
          <a:p>
            <a:pPr algn="l">
              <a:spcAft>
                <a:spcPts val="400"/>
              </a:spcAft>
            </a:pPr>
            <a:endParaRPr sz="1100" b="0">
              <a:solidFill>
                <a:srgbClr val="8A94AD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CD68A"/>
                </a:solidFill>
                <a:latin typeface="Calibri"/>
              </a:rPr>
              <a:t>Planned:  More sophisticated features</a:t>
            </a:r>
          </a:p>
          <a:p>
            <a:pPr algn="l">
              <a:spcAft>
                <a:spcPts val="400"/>
              </a:spcAft>
            </a:pPr>
            <a:endParaRPr sz="1200" b="0">
              <a:solidFill>
                <a:srgbClr val="5CD68A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  Distance to nearest crop field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  SPI (rainfall) of nearest crop field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0B8C8"/>
                </a:solidFill>
                <a:latin typeface="Calibri"/>
              </a:rPr>
              <a:t>  Weighted spatial aggregation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400" y="1188720"/>
            <a:ext cx="5334000" cy="4571999"/>
          </a:xfrm>
          <a:prstGeom prst="roundRect">
            <a:avLst/>
          </a:prstGeom>
          <a:solidFill>
            <a:srgbClr val="2A2A48"/>
          </a:solidFill>
          <a:ln w="12700">
            <a:solidFill>
              <a:srgbClr val="3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31280" y="1371600"/>
            <a:ext cx="548640" cy="3810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31280" y="1508760"/>
            <a:ext cx="496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MLOps Pipeline Design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31280" y="2103120"/>
            <a:ext cx="45720" cy="54864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22720" y="2103120"/>
            <a:ext cx="4876800" cy="54864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59880" y="2171700"/>
            <a:ext cx="460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Docker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9880" y="2400300"/>
            <a:ext cx="460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4AD"/>
                </a:solidFill>
                <a:latin typeface="Calibri"/>
              </a:rPr>
              <a:t>Containerized environment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31280" y="2834640"/>
            <a:ext cx="45720" cy="548640"/>
          </a:xfrm>
          <a:prstGeom prst="rect">
            <a:avLst/>
          </a:prstGeom>
          <a:solidFill>
            <a:srgbClr val="5C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522720" y="2834640"/>
            <a:ext cx="4876800" cy="54864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59880" y="2903220"/>
            <a:ext cx="460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Data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9880" y="3131820"/>
            <a:ext cx="460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4AD"/>
                </a:solidFill>
                <a:latin typeface="Calibri"/>
              </a:rPr>
              <a:t>Automated data ingestion &amp; processing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31280" y="3566160"/>
            <a:ext cx="45720" cy="548640"/>
          </a:xfrm>
          <a:prstGeom prst="rect">
            <a:avLst/>
          </a:prstGeom>
          <a:solidFill>
            <a:srgbClr val="C08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522720" y="3566160"/>
            <a:ext cx="4876800" cy="54864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59880" y="3634740"/>
            <a:ext cx="460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MLflow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9880" y="3863340"/>
            <a:ext cx="460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4AD"/>
                </a:solidFill>
                <a:latin typeface="Calibri"/>
              </a:rPr>
              <a:t>ML experiment tracking &amp; model registry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31280" y="4297680"/>
            <a:ext cx="45720" cy="548640"/>
          </a:xfrm>
          <a:prstGeom prst="rect">
            <a:avLst/>
          </a:prstGeom>
          <a:solidFill>
            <a:srgbClr val="F59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522720" y="4297680"/>
            <a:ext cx="4876800" cy="54864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59880" y="4366260"/>
            <a:ext cx="460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9880" y="4594860"/>
            <a:ext cx="460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4AD"/>
                </a:solidFill>
                <a:latin typeface="Calibri"/>
              </a:rPr>
              <a:t>User-facing prediction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26517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A94AD"/>
                </a:solidFill>
                <a:latin typeface="Calibri"/>
              </a:rPr>
              <a:t>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338328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A94AD"/>
                </a:solidFill>
                <a:latin typeface="Calibri"/>
              </a:rPr>
              <a:t>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4114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A94AD"/>
                </a:solidFill>
                <a:latin typeface="Calibri"/>
              </a:rPr>
              <a:t>↓</a:t>
            </a:r>
          </a:p>
        </p:txBody>
      </p:sp>
    </p:spTree>
    <p:extLst>
      <p:ext uri="{BB962C8B-B14F-4D97-AF65-F5344CB8AC3E}">
        <p14:creationId xmlns:p14="http://schemas.microsoft.com/office/powerpoint/2010/main" val="2728301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11941" y="2474259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APPENDIX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411941" y="3205779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Why predict food prices in East Africa?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Problem Definition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474720" cy="54864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3017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E9AF5"/>
                </a:solidFill>
                <a:latin typeface="Calibri"/>
              </a:defRPr>
            </a:pPr>
            <a:r>
              <a:rPr lang="en-US" dirty="0"/>
              <a:t>Prediction of price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Calibri"/>
              </a:defRPr>
            </a:pPr>
            <a:r>
              <a:rPr dirty="0"/>
              <a:t>Food Price Index</a:t>
            </a:r>
            <a:br>
              <a:rPr dirty="0"/>
            </a:br>
            <a:r>
              <a:rPr dirty="0"/>
              <a:t>Maize</a:t>
            </a:r>
            <a:br>
              <a:rPr dirty="0"/>
            </a:br>
            <a:r>
              <a:rPr dirty="0"/>
              <a:t>Sorghum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9728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297680" y="1097280"/>
            <a:ext cx="3474720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EC9B0"/>
                </a:solidFill>
                <a:latin typeface="Calibri"/>
              </a:defRPr>
            </a:pPr>
            <a:r>
              <a:t>3 Horizons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7373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Calibri"/>
              </a:defRPr>
            </a:pPr>
            <a:r>
              <a:t>1 month ahead</a:t>
            </a:r>
            <a:br/>
            <a:r>
              <a:t>2 months ahead</a:t>
            </a:r>
            <a:br/>
            <a:r>
              <a:t>3 months ahead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09728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38160" y="1097280"/>
            <a:ext cx="3474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1280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2 Countries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7373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Calibri"/>
              </a:defRPr>
            </a:pPr>
            <a:r>
              <a:rPr dirty="0"/>
              <a:t>Kenya</a:t>
            </a:r>
            <a:br>
              <a:rPr dirty="0"/>
            </a:br>
            <a:r>
              <a:rPr dirty="0"/>
              <a:t>Somalia</a:t>
            </a:r>
            <a:br>
              <a:rPr dirty="0"/>
            </a:br>
            <a:r>
              <a:rPr dirty="0"/>
              <a:t>Admin2 (district) level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17520"/>
            <a:ext cx="557784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154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9AF5"/>
                </a:solidFill>
                <a:latin typeface="Calibri"/>
              </a:defRPr>
            </a:pPr>
            <a:r>
              <a:t>Motivation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5661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East Africa: recurring droughts, conflict, economic shocks → food crises</a:t>
            </a:r>
          </a:p>
          <a:p>
            <a:pPr>
              <a:spcAft>
                <a:spcPts val="8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Early warning systems require granular, forward-looking price forecasts</a:t>
            </a:r>
          </a:p>
          <a:p>
            <a:pPr>
              <a:spcAft>
                <a:spcPts val="8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National-level data masks critical subnational (district-level) variation</a:t>
            </a:r>
          </a:p>
          <a:p>
            <a:pPr>
              <a:spcAft>
                <a:spcPts val="8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Most studies ignore spatial autocorrelation (nearby regions influencing each other) leakage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017520"/>
            <a:ext cx="539496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3154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5D75"/>
                </a:solidFill>
                <a:latin typeface="Calibri"/>
              </a:defRPr>
            </a:pPr>
            <a:r>
              <a:t>Key Challenges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56616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8 heterogeneous data sources with different spatial/temporal resolutions</a:t>
            </a:r>
          </a:p>
          <a:p>
            <a:pPr>
              <a:spcAft>
                <a:spcPts val="8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Spatial leakage: nearby districts have correlated prices</a:t>
            </a:r>
          </a:p>
          <a:p>
            <a:pPr>
              <a:spcAft>
                <a:spcPts val="8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Temporal leakage: future data must never inform past predictions</a:t>
            </a:r>
          </a:p>
          <a:p>
            <a:pPr>
              <a:spcAft>
                <a:spcPts val="8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Forecast accuracy naturally degrades at longer horizons (1→3 months)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526AE9-62DD-125D-155D-AB1EDC853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F63E4A-433B-34E4-7D94-24864B45A2F3}"/>
              </a:ext>
            </a:extLst>
          </p:cNvPr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Problem Definition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DA24DF0-4391-50FC-5126-02A9888BB1D4}"/>
              </a:ext>
            </a:extLst>
          </p:cNvPr>
          <p:cNvSpPr/>
          <p:nvPr/>
        </p:nvSpPr>
        <p:spPr>
          <a:xfrm>
            <a:off x="457200" y="109728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D03FF7-C789-5E92-FE46-35D7B5B16423}"/>
              </a:ext>
            </a:extLst>
          </p:cNvPr>
          <p:cNvSpPr/>
          <p:nvPr/>
        </p:nvSpPr>
        <p:spPr>
          <a:xfrm>
            <a:off x="457200" y="1097280"/>
            <a:ext cx="3474720" cy="54864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0EB10D-0CAE-473E-720C-2213DD71A4DC}"/>
              </a:ext>
            </a:extLst>
          </p:cNvPr>
          <p:cNvSpPr txBox="1"/>
          <p:nvPr/>
        </p:nvSpPr>
        <p:spPr>
          <a:xfrm>
            <a:off x="731520" y="1280160"/>
            <a:ext cx="3017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E9AF5"/>
                </a:solidFill>
                <a:latin typeface="Calibri"/>
              </a:defRPr>
            </a:pPr>
            <a:r>
              <a:rPr lang="en-US" dirty="0"/>
              <a:t>Prediction of price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0099F8-674D-8357-C832-ADA282DC16D6}"/>
              </a:ext>
            </a:extLst>
          </p:cNvPr>
          <p:cNvSpPr txBox="1"/>
          <p:nvPr/>
        </p:nvSpPr>
        <p:spPr>
          <a:xfrm>
            <a:off x="731520" y="17373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Calibri"/>
              </a:defRPr>
            </a:pPr>
            <a:r>
              <a:rPr dirty="0"/>
              <a:t>Food Price Index</a:t>
            </a:r>
            <a:br>
              <a:rPr dirty="0"/>
            </a:br>
            <a:r>
              <a:rPr dirty="0"/>
              <a:t>Maize</a:t>
            </a:r>
            <a:br>
              <a:rPr dirty="0"/>
            </a:br>
            <a:r>
              <a:rPr dirty="0"/>
              <a:t>Sorghum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50E387B-AC01-9DC8-A4C5-82C3A027F3E9}"/>
              </a:ext>
            </a:extLst>
          </p:cNvPr>
          <p:cNvSpPr/>
          <p:nvPr/>
        </p:nvSpPr>
        <p:spPr>
          <a:xfrm>
            <a:off x="4297680" y="109728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642B12-C7F3-2B10-DF09-94F83FDBE466}"/>
              </a:ext>
            </a:extLst>
          </p:cNvPr>
          <p:cNvSpPr/>
          <p:nvPr/>
        </p:nvSpPr>
        <p:spPr>
          <a:xfrm>
            <a:off x="4297680" y="1097280"/>
            <a:ext cx="3474720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0B61D9-382B-FC42-8974-7C397F0CDA56}"/>
              </a:ext>
            </a:extLst>
          </p:cNvPr>
          <p:cNvSpPr txBox="1"/>
          <p:nvPr/>
        </p:nvSpPr>
        <p:spPr>
          <a:xfrm>
            <a:off x="4572000" y="1280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EC9B0"/>
                </a:solidFill>
                <a:latin typeface="Calibri"/>
              </a:defRPr>
            </a:pPr>
            <a:r>
              <a:t>3 Horizons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125CB-388F-F06C-354D-19C1DEBF5C66}"/>
              </a:ext>
            </a:extLst>
          </p:cNvPr>
          <p:cNvSpPr txBox="1"/>
          <p:nvPr/>
        </p:nvSpPr>
        <p:spPr>
          <a:xfrm>
            <a:off x="4572000" y="17373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Calibri"/>
              </a:defRPr>
            </a:pPr>
            <a:r>
              <a:t>1 month ahead</a:t>
            </a:r>
            <a:br/>
            <a:r>
              <a:t>2 months ahead</a:t>
            </a:r>
            <a:br/>
            <a:r>
              <a:t>3 months ahead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6BE2347-2475-1A2A-BB5C-ECDDD3D3B2DF}"/>
              </a:ext>
            </a:extLst>
          </p:cNvPr>
          <p:cNvSpPr/>
          <p:nvPr/>
        </p:nvSpPr>
        <p:spPr>
          <a:xfrm>
            <a:off x="8138160" y="109728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8D0144-CD47-F4E1-C597-84150B94BE70}"/>
              </a:ext>
            </a:extLst>
          </p:cNvPr>
          <p:cNvSpPr/>
          <p:nvPr/>
        </p:nvSpPr>
        <p:spPr>
          <a:xfrm>
            <a:off x="8138160" y="1097280"/>
            <a:ext cx="3474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FCF8E2-A83F-1C5E-1304-DAC0FB6DF486}"/>
              </a:ext>
            </a:extLst>
          </p:cNvPr>
          <p:cNvSpPr txBox="1"/>
          <p:nvPr/>
        </p:nvSpPr>
        <p:spPr>
          <a:xfrm>
            <a:off x="8412480" y="1280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2 Countries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1B3435-DFC1-7237-0681-2A4F473DF249}"/>
              </a:ext>
            </a:extLst>
          </p:cNvPr>
          <p:cNvSpPr txBox="1"/>
          <p:nvPr/>
        </p:nvSpPr>
        <p:spPr>
          <a:xfrm>
            <a:off x="8412480" y="17373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Calibri"/>
              </a:defRPr>
            </a:pPr>
            <a:r>
              <a:rPr dirty="0"/>
              <a:t>Kenya</a:t>
            </a:r>
            <a:br>
              <a:rPr dirty="0"/>
            </a:br>
            <a:r>
              <a:rPr dirty="0"/>
              <a:t>Somalia</a:t>
            </a:r>
            <a:br>
              <a:rPr dirty="0"/>
            </a:br>
            <a:r>
              <a:rPr dirty="0"/>
              <a:t>Admin2 (district) level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1363B65-9650-0816-A4DD-86D0CC301E75}"/>
              </a:ext>
            </a:extLst>
          </p:cNvPr>
          <p:cNvSpPr/>
          <p:nvPr/>
        </p:nvSpPr>
        <p:spPr>
          <a:xfrm>
            <a:off x="457200" y="3017520"/>
            <a:ext cx="557784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29E4D5-3528-FDE0-37E8-907A45E7C5CF}"/>
              </a:ext>
            </a:extLst>
          </p:cNvPr>
          <p:cNvSpPr txBox="1"/>
          <p:nvPr/>
        </p:nvSpPr>
        <p:spPr>
          <a:xfrm>
            <a:off x="731520" y="3154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9AF5"/>
                </a:solidFill>
                <a:latin typeface="Calibri"/>
              </a:defRPr>
            </a:pPr>
            <a:r>
              <a:t>Motivation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2146D1-5126-88CD-69C9-DA875A63A023}"/>
              </a:ext>
            </a:extLst>
          </p:cNvPr>
          <p:cNvSpPr txBox="1"/>
          <p:nvPr/>
        </p:nvSpPr>
        <p:spPr>
          <a:xfrm>
            <a:off x="731520" y="35661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East Africa: recurring droughts, conflict, economic shocks → food crises</a:t>
            </a:r>
          </a:p>
          <a:p>
            <a:pPr>
              <a:spcAft>
                <a:spcPts val="8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Early warning systems require granular, forward-looking price forecasts</a:t>
            </a:r>
          </a:p>
          <a:p>
            <a:pPr>
              <a:spcAft>
                <a:spcPts val="8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National-level data masks critical subnational (district-level) variation</a:t>
            </a:r>
          </a:p>
          <a:p>
            <a:pPr>
              <a:spcAft>
                <a:spcPts val="8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Most studies ignore spatial autocorrelation (nearby regions influencing each other) leakage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3BAD74D-B827-FC94-46D0-01576E263544}"/>
              </a:ext>
            </a:extLst>
          </p:cNvPr>
          <p:cNvSpPr/>
          <p:nvPr/>
        </p:nvSpPr>
        <p:spPr>
          <a:xfrm>
            <a:off x="6309360" y="3017520"/>
            <a:ext cx="539496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2F1DD9-7533-5B8F-A9F1-8B60F0CDDB48}"/>
              </a:ext>
            </a:extLst>
          </p:cNvPr>
          <p:cNvSpPr txBox="1"/>
          <p:nvPr/>
        </p:nvSpPr>
        <p:spPr>
          <a:xfrm>
            <a:off x="6583680" y="3154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5D75"/>
                </a:solidFill>
                <a:latin typeface="Calibri"/>
              </a:defRPr>
            </a:pPr>
            <a:r>
              <a:t>Key Challenges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D90659-A7CF-57BC-B8AA-85594186B20F}"/>
              </a:ext>
            </a:extLst>
          </p:cNvPr>
          <p:cNvSpPr txBox="1"/>
          <p:nvPr/>
        </p:nvSpPr>
        <p:spPr>
          <a:xfrm>
            <a:off x="6583680" y="356616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8 heterogeneous data sources with different spatial/temporal resolutions</a:t>
            </a:r>
          </a:p>
          <a:p>
            <a:pPr>
              <a:spcAft>
                <a:spcPts val="8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Spatial leakage: nearby districts have correlated prices</a:t>
            </a:r>
          </a:p>
          <a:p>
            <a:pPr>
              <a:spcAft>
                <a:spcPts val="8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Temporal leakage: future data must never inform past predictions</a:t>
            </a:r>
          </a:p>
          <a:p>
            <a:pPr>
              <a:spcAft>
                <a:spcPts val="8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Forecast accuracy naturally degrades at longer horizons (1→3 months)</a:t>
            </a:r>
          </a:p>
        </p:txBody>
      </p:sp>
    </p:spTree>
    <p:extLst>
      <p:ext uri="{BB962C8B-B14F-4D97-AF65-F5344CB8AC3E}">
        <p14:creationId xmlns:p14="http://schemas.microsoft.com/office/powerpoint/2010/main" val="1975470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03520" y="2286000"/>
            <a:ext cx="1463040" cy="1463040"/>
          </a:xfrm>
          <a:prstGeom prst="ellipse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1000"/>
              </a:spcBef>
              <a:defRPr sz="4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846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8 heterogeneous datasets integrated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 Sources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5478912"/>
              </p:ext>
            </p:extLst>
          </p:nvPr>
        </p:nvGraphicFramePr>
        <p:xfrm>
          <a:off x="274320" y="1005840"/>
          <a:ext cx="113385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D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 anchor="ctr">
                    <a:solidFill>
                      <a:srgbClr val="2D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Provider</a:t>
                      </a:r>
                    </a:p>
                  </a:txBody>
                  <a:tcPr anchor="ctr">
                    <a:solidFill>
                      <a:srgbClr val="2D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Variables</a:t>
                      </a:r>
                    </a:p>
                  </a:txBody>
                  <a:tcPr anchor="ctr">
                    <a:solidFill>
                      <a:srgbClr val="2D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Resolution</a:t>
                      </a:r>
                    </a:p>
                  </a:txBody>
                  <a:tcPr anchor="ctr">
                    <a:solidFill>
                      <a:srgbClr val="2D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(Food Prices)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WFP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(World Food Programme)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World Bank</a:t>
                      </a:r>
                      <a:endParaRPr dirty="0"/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Food Price Index, Maize, Sorghum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Market → District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Rainfall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CHIRPS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(Satellite Rainfall)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UCSB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SPI (Drought Index)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5km → District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Hydrology /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Temperature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FLDAS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(Land Surface Model)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NASA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Soil moisture, Air temp,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Runoff, Evapotranspiration (8 vars)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District monthly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Vegetation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Health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MODIS / AVHRR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(Satellite Imagery)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NASA / NOAA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NDVI (Greenness), LST (Surface Temp),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VHI (Vegetation Health)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District monthly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Global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Climate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ENSO / IOD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(Ocean-Atmosphere)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NOAA / IRI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El Nino Index, Indian Ocean Dipole,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Multivariate ENSO Index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Global monthly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Conflict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ACLED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(Conflict Event Data)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ACLED Project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Event count, Fatalities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Point → District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SPAM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(Crop Presence Map)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CIMMYT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Crop cover fraction per district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500m (static)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Population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WorldPop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(Population Estimate)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WorldPop Hub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Population count per district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rPr dirty="0"/>
                        <a:t>1km (static)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All sources spatially aligned to district (Admin2) boundaries  |  Temporal coverage: 2007–2025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03520" y="2286000"/>
            <a:ext cx="1463040" cy="1463040"/>
          </a:xfrm>
          <a:prstGeom prst="ellipse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1000"/>
              </a:spcBef>
              <a:defRPr sz="4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Preprocessing &amp; Merging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846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From raw data to a unified panel dataset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End-to-End Architecture</a:t>
            </a:r>
          </a:p>
        </p:txBody>
      </p:sp>
      <p:pic>
        <p:nvPicPr>
          <p:cNvPr id="3" name="Picture 2" descr="data_flow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57200" y="914400"/>
            <a:ext cx="1124712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Preprocessing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36576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4864" cy="210312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9AF5"/>
                </a:solidFill>
                <a:latin typeface="Calibri"/>
              </a:defRPr>
            </a:pPr>
            <a:r>
              <a:t>Food Prices (WFP) → District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Spatial join: market lat/lon → district polygon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Mean price aggregation per district/month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097280"/>
            <a:ext cx="36576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206240" y="1097280"/>
            <a:ext cx="54864" cy="21031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1234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9B0"/>
                </a:solidFill>
                <a:latin typeface="Calibri"/>
              </a:defRPr>
            </a:pPr>
            <a:r>
              <a:t>Rainfall (CHIRPS) → Drought 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6002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Gamma distribution fit (30-yr calibration period)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Compute SPI (drought severity) per district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097280"/>
            <a:ext cx="36576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38160" y="1097280"/>
            <a:ext cx="54864" cy="2103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1234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Land Surface (FLDAS, 8 vars)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6002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3-month moving average + Z-score normalization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Soil moisture, temperature, runoff, evaporation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566160"/>
            <a:ext cx="36576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3566160"/>
            <a:ext cx="54864" cy="2103120"/>
          </a:xfrm>
          <a:prstGeom prst="rect">
            <a:avLst/>
          </a:prstGeom>
          <a:solidFill>
            <a:srgbClr val="A77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703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7BF3"/>
                </a:solidFill>
                <a:latin typeface="Calibri"/>
              </a:defRPr>
            </a:pPr>
            <a:r>
              <a:t>Vegetation Health (MODIS/AVHRR)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0690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NDVI (greenness), LST (surface temp), VHI (health)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District-level zonal mean aggregation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3566160"/>
            <a:ext cx="36576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06240" y="3566160"/>
            <a:ext cx="54864" cy="2103120"/>
          </a:xfrm>
          <a:prstGeom prst="rect">
            <a:avLst/>
          </a:prstGeom>
          <a:solidFill>
            <a:srgbClr val="E8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80560" y="3703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5D75"/>
                </a:solidFill>
                <a:latin typeface="Calibri"/>
              </a:defRPr>
            </a:pPr>
            <a:r>
              <a:t>Conflict Events (ACLED)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0690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Point-in-polygon → district; sum fatalities + events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Missing months filled with 0 (no events recorded)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566160"/>
            <a:ext cx="36576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38160" y="3566160"/>
            <a:ext cx="54864" cy="210312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80" y="3703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88899"/>
                </a:solidFill>
                <a:latin typeface="Calibri"/>
              </a:defRPr>
            </a:pPr>
            <a:r>
              <a:t>Static 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0690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Crop map: 500m raster → crop fraction per district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Population: 1km raster → total count per district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 Merging Strategy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21031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51560" y="1234440"/>
            <a:ext cx="457200" cy="457200"/>
          </a:xfrm>
          <a:prstGeom prst="ellipse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9AF5"/>
                </a:solidFill>
                <a:latin typeface="Calibri"/>
              </a:defRPr>
            </a:pPr>
            <a:r>
              <a:t>Skeleton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148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Year × Month × District</a:t>
            </a:r>
            <a:br/>
            <a:r>
              <a:t>cartesian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39" y="1097280"/>
            <a:ext cx="21031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383279" y="1234440"/>
            <a:ext cx="457200" cy="45720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19" y="1828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C9B0"/>
                </a:solidFill>
                <a:latin typeface="Calibri"/>
              </a:defRPr>
            </a:pPr>
            <a:r>
              <a:t>Prices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199" y="2148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Food prices joined on</a:t>
            </a:r>
            <a:br/>
            <a:r>
              <a:t>(year, month, district)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59" y="1097280"/>
            <a:ext cx="21031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714999" y="123444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39" y="1828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Calibri"/>
              </a:defRPr>
            </a:pPr>
            <a:r>
              <a:t>Static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19" y="2148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Population + Crop cover</a:t>
            </a:r>
            <a:br/>
            <a:r>
              <a:t>joined on district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79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79" y="1097280"/>
            <a:ext cx="21031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046719" y="1234440"/>
            <a:ext cx="457200" cy="457200"/>
          </a:xfrm>
          <a:prstGeom prst="ellipse">
            <a:avLst/>
          </a:prstGeom>
          <a:solidFill>
            <a:srgbClr val="E8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59" y="1828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75"/>
                </a:solidFill>
                <a:latin typeface="Calibri"/>
              </a:defRPr>
            </a:pPr>
            <a:r>
              <a:t>Conflict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39" y="2148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Conflict events on</a:t>
            </a:r>
            <a:br/>
            <a:r>
              <a:t>(year, month, district)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599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0" y="1097280"/>
            <a:ext cx="21031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378440" y="1234440"/>
            <a:ext cx="457200" cy="457200"/>
          </a:xfrm>
          <a:prstGeom prst="ellipse">
            <a:avLst/>
          </a:prstGeom>
          <a:solidFill>
            <a:srgbClr val="A77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1828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77BF3"/>
                </a:solidFill>
                <a:latin typeface="Calibri"/>
              </a:defRPr>
            </a:pPr>
            <a:r>
              <a:t>Climate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2148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Land surface + Vegetation</a:t>
            </a:r>
            <a:br/>
            <a:r>
              <a:t>+ Global climate indices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474720"/>
            <a:ext cx="112471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3611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9AF5"/>
                </a:solidFill>
                <a:latin typeface="Calibri"/>
              </a:defRPr>
            </a:pPr>
            <a:r>
              <a:rPr dirty="0"/>
              <a:t>Spatial Reference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977639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rPr dirty="0" err="1"/>
              <a:t>GeoBoundaries</a:t>
            </a:r>
            <a:r>
              <a:rPr dirty="0"/>
              <a:t> district boundary maps (canonical)</a:t>
            </a:r>
          </a:p>
          <a:p>
            <a:pPr>
              <a:spcAft>
                <a:spcPts val="3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rPr dirty="0"/>
              <a:t>Points-in-polygon for markets &amp; conflict</a:t>
            </a:r>
          </a:p>
          <a:p>
            <a:pPr>
              <a:spcAft>
                <a:spcPts val="3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rPr dirty="0"/>
              <a:t>Zonal statistics for raster (satellite) data</a:t>
            </a:r>
          </a:p>
          <a:p>
            <a:pPr>
              <a:spcAft>
                <a:spcPts val="3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rPr dirty="0"/>
              <a:t>Per-country spatial join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3611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9B0"/>
                </a:solidFill>
                <a:latin typeface="Calibri"/>
              </a:defRPr>
            </a:pPr>
            <a:r>
              <a:t>Name Matching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3977639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Direct match on district name</a:t>
            </a:r>
          </a:p>
          <a:p>
            <a:pPr>
              <a:spcAft>
                <a:spcPts val="3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Fuzzy matching (approximate string matching, ≥80%)</a:t>
            </a:r>
          </a:p>
          <a:p>
            <a:pPr>
              <a:spcAft>
                <a:spcPts val="3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Manual override dictionary for known mismatches</a:t>
            </a:r>
          </a:p>
          <a:p>
            <a:pPr>
              <a:spcAft>
                <a:spcPts val="3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e.g., 'Nairobi' city → 'Starehe' district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611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Final 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977639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Unified Parquet dataset (columnar format)</a:t>
            </a:r>
          </a:p>
          <a:p>
            <a:pPr>
              <a:spcAft>
                <a:spcPts val="3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~8,640 rows × 50+ columns</a:t>
            </a:r>
          </a:p>
          <a:p>
            <a:pPr>
              <a:spcAft>
                <a:spcPts val="3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40 districts with price observations</a:t>
            </a:r>
          </a:p>
          <a:p>
            <a:pPr>
              <a:spcAft>
                <a:spcPts val="300"/>
              </a:spcAft>
              <a:defRPr sz="1000">
                <a:solidFill>
                  <a:srgbClr val="BBBBCC"/>
                </a:solidFill>
                <a:latin typeface="Calibri"/>
              </a:defRPr>
            </a:pPr>
            <a:r>
              <a:t>Ready for feature engineering &amp; modeling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03520" y="2286000"/>
            <a:ext cx="1463040" cy="1463040"/>
          </a:xfrm>
          <a:prstGeom prst="ellipse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1000"/>
              </a:spcBef>
              <a:defRPr sz="4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846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Lag strategy and leakage prevention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Lag Strategy &amp; Feature Engineering</a:t>
            </a:r>
          </a:p>
        </p:txBody>
      </p:sp>
      <p:pic>
        <p:nvPicPr>
          <p:cNvPr id="3" name="Picture 2" descr="lag_strategy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4320" y="822960"/>
            <a:ext cx="11430000" cy="38404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4846320"/>
            <a:ext cx="112471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9AF5"/>
                </a:solidFill>
                <a:latin typeface="Calibri"/>
              </a:defRPr>
            </a:pPr>
            <a:r>
              <a:t>Past Price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1,2,3,6,12 month lags +</a:t>
            </a:r>
            <a:br/>
            <a:r>
              <a:t>rolling averages + year-over-year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4937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  <a:latin typeface="Calibri"/>
              </a:defRPr>
            </a:pPr>
            <a:r>
              <a:t>External Feature Shift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53035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Climate/conflict features shifted</a:t>
            </a:r>
            <a:br/>
            <a:r>
              <a:t>by forecast horizon (prevents leakage)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937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Seasonal Encoding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3035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Cyclical month encoding</a:t>
            </a:r>
            <a:br/>
            <a:r>
              <a:t>(sine/cosine transformation)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4937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5D75"/>
                </a:solidFill>
                <a:latin typeface="Calibri"/>
              </a:defRPr>
            </a:pPr>
            <a:r>
              <a:t>Warmup Period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53035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Drop first 12 months per district</a:t>
            </a:r>
            <a:br/>
            <a:r>
              <a:t>to build sufficient history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03520" y="2286000"/>
            <a:ext cx="1463040" cy="1463040"/>
          </a:xfrm>
          <a:prstGeom prst="ellipse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1000"/>
              </a:spcBef>
              <a:defRPr sz="4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Modeling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846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XGBoost (Gradient Boosting) with Spatio-Temporal Cross-Validation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Spatio</a:t>
            </a:r>
            <a:r>
              <a:rPr dirty="0"/>
              <a:t>-Temporal Cross-Validation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22960"/>
            <a:ext cx="3200400" cy="5486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9AF5"/>
                </a:solidFill>
                <a:latin typeface="Calibri"/>
              </a:defRPr>
            </a:pPr>
            <a:r>
              <a:t>XGBoost (Gradient Boosting)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n_estimators = 500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learning_rate = 0.05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max_depth = 6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min_child_weight = 5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subsample = 0.8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colsample_bytree = 0.8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reg_alpha = 0.1 (L1)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reg_lambda = 1.0 (L2)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early_stopping = 30 rounds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  <a:latin typeface="Calibri"/>
              </a:defRPr>
            </a:pPr>
            <a:r>
              <a:t>Combined Cross-Validation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5 spatial × 3 temporal</a:t>
            </a:r>
            <a:br/>
            <a:r>
              <a:t>= 15 folds</a:t>
            </a:r>
            <a:br/>
            <a:r>
              <a:t>per target × horizon</a:t>
            </a:r>
            <a:br/>
            <a:br/>
            <a:r>
              <a:t>→ 135 total model fits</a:t>
            </a:r>
            <a:br/>
            <a:r>
              <a:t>  (3 targets × 3 horizons × 15)</a:t>
            </a:r>
          </a:p>
        </p:txBody>
      </p:sp>
      <p:pic>
        <p:nvPicPr>
          <p:cNvPr id="8" name="Picture 7" descr="cv_design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657600" y="82296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03520" y="2286000"/>
            <a:ext cx="1463040" cy="1463040"/>
          </a:xfrm>
          <a:prstGeom prst="ellipse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1000"/>
              </a:spcBef>
              <a:defRPr sz="44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846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Model performance across targets and horizons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Hold-Out Test Results (2024+)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Train on all data before 2024, test on 2024+ — simulates real-world deployment</a:t>
            </a:r>
          </a:p>
        </p:txBody>
      </p:sp>
      <p:pic>
        <p:nvPicPr>
          <p:cNvPr id="4" name="Picture 3" descr="holdout_r2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82880" y="1097280"/>
            <a:ext cx="5943600" cy="5303520"/>
          </a:xfrm>
          <a:prstGeom prst="rect">
            <a:avLst/>
          </a:prstGeom>
        </p:spPr>
      </p:pic>
      <p:pic>
        <p:nvPicPr>
          <p:cNvPr id="5" name="Picture 4" descr="holdout_mape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126480" y="1097280"/>
            <a:ext cx="59436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Horizon Degradation Analysis</a:t>
            </a:r>
          </a:p>
        </p:txBody>
      </p:sp>
      <p:pic>
        <p:nvPicPr>
          <p:cNvPr id="3" name="Picture 2" descr="horizon_degradation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4320" y="914400"/>
            <a:ext cx="114300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Accuracy naturally degrades at longer forecast horizons  |  Food Price Index most stable  |  Sorghum most volatile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Kenya vs Somalia Performance</a:t>
            </a:r>
          </a:p>
        </p:txBody>
      </p:sp>
      <p:pic>
        <p:nvPicPr>
          <p:cNvPr id="3" name="Picture 2" descr="country_comparison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71600" y="914400"/>
            <a:ext cx="941832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Kenya consistently more accurate than Somalia — likely due to higher data density, lower conflict, more stable markets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Feature Group Importance</a:t>
            </a:r>
          </a:p>
        </p:txBody>
      </p:sp>
      <p:pic>
        <p:nvPicPr>
          <p:cNvPr id="3" name="Picture 2" descr="feature_importance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14400" y="914400"/>
            <a:ext cx="1033272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Past price history dominates (77–94%)  |  Land surface &amp; climate contribute 10–20% for commodity prices</a:t>
            </a:r>
            <a:br/>
            <a:r>
              <a:t>At longer horizons, external features (climate, conflict) gain relative importance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Spatio-Temporal CV vs Hold-Out Comparison</a:t>
            </a:r>
          </a:p>
        </p:txBody>
      </p:sp>
      <p:pic>
        <p:nvPicPr>
          <p:cNvPr id="3" name="Picture 2" descr="cv_vs_holdout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71600" y="914400"/>
            <a:ext cx="941832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Spatio-Temporal CV is intentionally conservative (held-out districts were never seen during training)</a:t>
            </a:r>
            <a:br/>
            <a:r>
              <a:t>Hold-out reflects realistic deployment: train on all districts, predict future time periods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Detailed Spatio-Temporal CV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15 folds (5 spatial × 3 temporal) per target × horizon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2D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Horizon</a:t>
                      </a:r>
                    </a:p>
                  </a:txBody>
                  <a:tcPr anchor="ctr">
                    <a:solidFill>
                      <a:srgbClr val="2D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R² (Variance Explained)</a:t>
                      </a:r>
                    </a:p>
                  </a:txBody>
                  <a:tcPr anchor="ctr">
                    <a:solidFill>
                      <a:srgbClr val="2D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MAPE (% Error)</a:t>
                      </a:r>
                    </a:p>
                  </a:txBody>
                  <a:tcPr anchor="ctr">
                    <a:solidFill>
                      <a:srgbClr val="2D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RMSE (Prediction Error)</a:t>
                      </a:r>
                    </a:p>
                  </a:txBody>
                  <a:tcPr anchor="ctr">
                    <a:solidFill>
                      <a:srgbClr val="2D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Food Price Index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h=1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0.04 ± 0.82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9.86% ± 7.03%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0.191 ± 0.142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Food Price Index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h=2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-0.26 ± 1.00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11.85% ± 7.80%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0.220 ± 0.153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Food Price Index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h=3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-0.54 ± 1.02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13.43% ± 8.06%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0.242 ± 0.156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Maize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h=1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0.77 ± 0.29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7.35% ± 2.67%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3,732 ± 3,010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Maize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h=2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0.69 ± 0.32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10.01% ± 2.78%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4,477 ± 3,050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Maize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h=3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0.61 ± 0.33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12.26% ± 3.15%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4,987 ± 2,956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Sorghum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h=1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0.78 ± 0.27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9.01% ± 5.39%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3,178 ± 3,458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Sorghum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h=2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0.67 ± 0.32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12.85% ± 6.42%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3,797 ± 3,748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Sorghum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h=3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0.54 ± 0.33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16.20% ± 6.74%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4,289 ± 3,857</a:t>
                      </a:r>
                    </a:p>
                  </a:txBody>
                  <a:tcPr anchor="ctr">
                    <a:solidFill>
                      <a:srgbClr val="22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124712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73152" cy="91440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9AF5"/>
                </a:solidFill>
                <a:latin typeface="Calibri"/>
              </a:defRPr>
            </a:pPr>
            <a:r>
              <a:t>Multi-Source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8 heterogeneous sources (climate, conflict, satellite, economic) → unified district-level panel for Kenya &amp; Somalia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48839"/>
            <a:ext cx="1124712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148839"/>
            <a:ext cx="73152" cy="9144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2402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B0"/>
                </a:solidFill>
                <a:latin typeface="Calibri"/>
              </a:defRPr>
            </a:pPr>
            <a:r>
              <a:t>Rigorous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39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Spatio-Temporal Cross-Validation (350km spatial separation × expanding time window) prevents data leakage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00400"/>
            <a:ext cx="1124712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73152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291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Strong Predictive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Hold-out R² (variance explained) &gt; 0.91 for all targets; Maize at 1-month achieves R² = 0.989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51959"/>
            <a:ext cx="1124712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4251959"/>
            <a:ext cx="73152" cy="914400"/>
          </a:xfrm>
          <a:prstGeom prst="rect">
            <a:avLst/>
          </a:prstGeom>
          <a:solidFill>
            <a:srgbClr val="E8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34339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5D75"/>
                </a:solidFill>
                <a:latin typeface="Calibri"/>
              </a:defRPr>
            </a:pPr>
            <a:r>
              <a:t>Country-Level Insights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709159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Kenya predictions more accurate than Somalia — likely due to data availability, lower conflict, more stable markets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303520"/>
            <a:ext cx="1124712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5303520"/>
            <a:ext cx="73152" cy="914400"/>
          </a:xfrm>
          <a:prstGeom prst="rect">
            <a:avLst/>
          </a:prstGeom>
          <a:solidFill>
            <a:srgbClr val="A77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5394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7BF3"/>
                </a:solidFill>
                <a:latin typeface="Calibri"/>
              </a:defRPr>
            </a:pPr>
            <a:r>
              <a:t>Forecast Horizon Trade-off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7607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1-month forecast most reliable; 3-month forecast error (MAPE) increases by 5–10 percentage points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3474720"/>
            <a:ext cx="2743200" cy="27432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BBCC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  <a:latin typeface="Calibri"/>
              </a:defRPr>
            </a:pPr>
            <a:r>
              <a:t>Halim Jun  ·  Donghee Lee  ·  Sheldon Lu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99"/>
                </a:solidFill>
                <a:latin typeface="Calibri"/>
              </a:defRPr>
            </a:pPr>
            <a:r>
              <a:t>Columbia University  ·  Spring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1871</Words>
  <Application>Microsoft Macintosh PowerPoint</Application>
  <PresentationFormat>Widescreen</PresentationFormat>
  <Paragraphs>390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Halim Jun</cp:lastModifiedBy>
  <cp:revision>5</cp:revision>
  <dcterms:created xsi:type="dcterms:W3CDTF">2013-01-27T09:14:16Z</dcterms:created>
  <dcterms:modified xsi:type="dcterms:W3CDTF">2026-03-15T12:02:45Z</dcterms:modified>
  <cp:category/>
</cp:coreProperties>
</file>