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800" b="1">
                <a:solidFill>
                  <a:srgbClr val="FFFFFF"/>
                </a:solidFill>
                <a:latin typeface="Calibri"/>
              </a:defRPr>
            </a:pPr>
            <a:r>
              <a:t>Subnational Food Price Prediction</a:t>
            </a:r>
            <a:br/>
            <a:r>
              <a:t>in East Africa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CC"/>
                </a:solidFill>
                <a:latin typeface="Calibri"/>
              </a:defRPr>
            </a:pPr>
            <a:r>
              <a:t>Integrating Climate, Conflict, and Socioeconomic Data for Admin2-Level Forecasting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0" y="4023360"/>
            <a:ext cx="3657600" cy="27432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3891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99"/>
                </a:solidFill>
                <a:latin typeface="Calibri"/>
              </a:defRPr>
            </a:pPr>
            <a:r>
              <a:t>Kenya  &amp;  Somalia  |  XGBoost (Gradient Boosting)  |  Spatio-Temporal Cross-Validation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1206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BBBCC"/>
                </a:solidFill>
                <a:latin typeface="Calibri"/>
              </a:defRPr>
            </a:pPr>
            <a:r>
              <a:t>Halim Jun  ·  Donghee Lee  ·  Sheldon Lu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55778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99"/>
                </a:solidFill>
                <a:latin typeface="Calibri"/>
              </a:defRPr>
            </a:pPr>
            <a:r>
              <a:t>Columbia University  ·  Spring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303520" y="2286000"/>
            <a:ext cx="1463040" cy="1463040"/>
          </a:xfrm>
          <a:prstGeom prst="ellipse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000"/>
              </a:spcBef>
              <a:defRPr sz="4400" b="1">
                <a:solidFill>
                  <a:srgbClr val="FFFFFF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114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Problem Definition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846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CC"/>
                </a:solidFill>
                <a:latin typeface="Calibri"/>
              </a:defRPr>
            </a:pPr>
            <a:r>
              <a:t>Why predict food prices in East Africa?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Problem Definition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347472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3474720" cy="54864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E9AF5"/>
                </a:solidFill>
                <a:latin typeface="Calibri"/>
              </a:defRPr>
            </a:pPr>
            <a:r>
              <a:t>3 Targets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Calibri"/>
              </a:defRPr>
            </a:pPr>
            <a:r>
              <a:t>Food Price Index</a:t>
            </a:r>
            <a:br/>
            <a:r>
              <a:t>Maize</a:t>
            </a:r>
            <a:br/>
            <a:r>
              <a:t>Sorghum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97680" y="1097280"/>
            <a:ext cx="347472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97680" y="1097280"/>
            <a:ext cx="3474720" cy="54864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2801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4EC9B0"/>
                </a:solidFill>
                <a:latin typeface="Calibri"/>
              </a:defRPr>
            </a:pPr>
            <a:r>
              <a:t>3 Horizons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173736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Calibri"/>
              </a:defRPr>
            </a:pPr>
            <a:r>
              <a:t>1 month ahead</a:t>
            </a:r>
            <a:br/>
            <a:r>
              <a:t>2 months ahead</a:t>
            </a:r>
            <a:br/>
            <a:r>
              <a:t>3 months ahead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097280"/>
            <a:ext cx="347472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38160" y="1097280"/>
            <a:ext cx="3474720" cy="54864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28016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59E0B"/>
                </a:solidFill>
                <a:latin typeface="Calibri"/>
              </a:defRPr>
            </a:pPr>
            <a:r>
              <a:t>2 Countries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1737360"/>
            <a:ext cx="3017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  <a:latin typeface="Calibri"/>
              </a:defRPr>
            </a:pPr>
            <a:r>
              <a:t>Kenya</a:t>
            </a:r>
            <a:br/>
            <a:r>
              <a:t>Somalia</a:t>
            </a:r>
            <a:br/>
            <a:r>
              <a:t>Admin2 (district) level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017520"/>
            <a:ext cx="5577840" cy="3200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31546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9AF5"/>
                </a:solidFill>
                <a:latin typeface="Calibri"/>
              </a:defRPr>
            </a:pPr>
            <a:r>
              <a:t>Motivation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566160"/>
            <a:ext cx="50292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BBBBCC"/>
                </a:solidFill>
                <a:latin typeface="Calibri"/>
              </a:defRPr>
              <a:buChar char="●"/>
              <a:buClr>
                <a:srgbClr val="4E9AF5"/>
              </a:buClr>
            </a:pPr>
            <a:r>
              <a:t>East Africa: recurring droughts, conflict, economic shocks → food crises</a:t>
            </a:r>
          </a:p>
          <a:p>
            <a:pPr>
              <a:spcAft>
                <a:spcPts val="800"/>
              </a:spcAft>
              <a:defRPr sz="1200">
                <a:solidFill>
                  <a:srgbClr val="BBBBCC"/>
                </a:solidFill>
                <a:latin typeface="Calibri"/>
              </a:defRPr>
              <a:buChar char="●"/>
              <a:buClr>
                <a:srgbClr val="4E9AF5"/>
              </a:buClr>
            </a:pPr>
            <a:r>
              <a:t>Early warning systems require granular, forward-looking price forecasts</a:t>
            </a:r>
          </a:p>
          <a:p>
            <a:pPr>
              <a:spcAft>
                <a:spcPts val="800"/>
              </a:spcAft>
              <a:defRPr sz="1200">
                <a:solidFill>
                  <a:srgbClr val="BBBBCC"/>
                </a:solidFill>
                <a:latin typeface="Calibri"/>
              </a:defRPr>
              <a:buChar char="●"/>
              <a:buClr>
                <a:srgbClr val="4E9AF5"/>
              </a:buClr>
            </a:pPr>
            <a:r>
              <a:t>National-level data masks critical subnational (district-level) variation</a:t>
            </a:r>
          </a:p>
          <a:p>
            <a:pPr>
              <a:spcAft>
                <a:spcPts val="800"/>
              </a:spcAft>
              <a:defRPr sz="1200">
                <a:solidFill>
                  <a:srgbClr val="BBBBCC"/>
                </a:solidFill>
                <a:latin typeface="Calibri"/>
              </a:defRPr>
              <a:buChar char="●"/>
              <a:buClr>
                <a:srgbClr val="4E9AF5"/>
              </a:buClr>
            </a:pPr>
            <a:r>
              <a:t>Most studies ignore spatial autocorrelation (nearby regions influencing each other) leakage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60" y="3017520"/>
            <a:ext cx="5394960" cy="3200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0" y="315468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85D75"/>
                </a:solidFill>
                <a:latin typeface="Calibri"/>
              </a:defRPr>
            </a:pPr>
            <a:r>
              <a:t>Key Challenges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3566160"/>
            <a:ext cx="48463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00">
                <a:solidFill>
                  <a:srgbClr val="BBBBCC"/>
                </a:solidFill>
                <a:latin typeface="Calibri"/>
              </a:defRPr>
              <a:buChar char="●"/>
              <a:buClr>
                <a:srgbClr val="E85D75"/>
              </a:buClr>
            </a:pPr>
            <a:r>
              <a:t>8 heterogeneous data sources with different spatial/temporal resolutions</a:t>
            </a:r>
          </a:p>
          <a:p>
            <a:pPr>
              <a:spcAft>
                <a:spcPts val="800"/>
              </a:spcAft>
              <a:defRPr sz="1200">
                <a:solidFill>
                  <a:srgbClr val="BBBBCC"/>
                </a:solidFill>
                <a:latin typeface="Calibri"/>
              </a:defRPr>
              <a:buChar char="●"/>
              <a:buClr>
                <a:srgbClr val="E85D75"/>
              </a:buClr>
            </a:pPr>
            <a:r>
              <a:t>Spatial leakage: nearby districts have correlated prices</a:t>
            </a:r>
          </a:p>
          <a:p>
            <a:pPr>
              <a:spcAft>
                <a:spcPts val="800"/>
              </a:spcAft>
              <a:defRPr sz="1200">
                <a:solidFill>
                  <a:srgbClr val="BBBBCC"/>
                </a:solidFill>
                <a:latin typeface="Calibri"/>
              </a:defRPr>
              <a:buChar char="●"/>
              <a:buClr>
                <a:srgbClr val="E85D75"/>
              </a:buClr>
            </a:pPr>
            <a:r>
              <a:t>Temporal leakage: future data must never inform past predictions</a:t>
            </a:r>
          </a:p>
          <a:p>
            <a:pPr>
              <a:spcAft>
                <a:spcPts val="800"/>
              </a:spcAft>
              <a:defRPr sz="1200">
                <a:solidFill>
                  <a:srgbClr val="BBBBCC"/>
                </a:solidFill>
                <a:latin typeface="Calibri"/>
              </a:defRPr>
              <a:buChar char="●"/>
              <a:buClr>
                <a:srgbClr val="E85D75"/>
              </a:buClr>
            </a:pPr>
            <a:r>
              <a:t>Forecast accuracy naturally degrades at longer horizons (1→3 months)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303520" y="2286000"/>
            <a:ext cx="1463040" cy="1463040"/>
          </a:xfrm>
          <a:prstGeom prst="ellipse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000"/>
              </a:spcBef>
              <a:defRPr sz="4400" b="1">
                <a:solidFill>
                  <a:srgbClr val="FFFFFF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114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Data Sources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846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CC"/>
                </a:solidFill>
                <a:latin typeface="Calibri"/>
              </a:defRPr>
            </a:pPr>
            <a:r>
              <a:t>8 heterogeneous datasets integrated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Data Sources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274320" y="1005840"/>
          <a:ext cx="1133856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2194560"/>
                <a:gridCol w="1645920"/>
                <a:gridCol w="4023360"/>
                <a:gridCol w="2286000"/>
              </a:tblGrid>
              <a:tr h="5588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Category</a:t>
                      </a:r>
                    </a:p>
                  </a:txBody>
                  <a:tcPr anchor="ctr">
                    <a:solidFill>
                      <a:srgbClr val="2D2D4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Source</a:t>
                      </a:r>
                    </a:p>
                  </a:txBody>
                  <a:tcPr anchor="ctr">
                    <a:solidFill>
                      <a:srgbClr val="2D2D4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Provider</a:t>
                      </a:r>
                    </a:p>
                  </a:txBody>
                  <a:tcPr anchor="ctr">
                    <a:solidFill>
                      <a:srgbClr val="2D2D4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Key Variables</a:t>
                      </a:r>
                    </a:p>
                  </a:txBody>
                  <a:tcPr anchor="ctr">
                    <a:solidFill>
                      <a:srgbClr val="2D2D4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Resolution</a:t>
                      </a:r>
                    </a:p>
                  </a:txBody>
                  <a:tcPr anchor="ctr">
                    <a:solidFill>
                      <a:srgbClr val="2D2D4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Target</a:t>
                      </a:r>
                    </a:p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(Food Prices)</a:t>
                      </a:r>
                    </a:p>
                  </a:txBody>
                  <a:tcPr anchor="ctr">
                    <a:solidFill>
                      <a:srgbClr val="22223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WFP</a:t>
                      </a:r>
                    </a:p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(World Food Programme)</a:t>
                      </a:r>
                    </a:p>
                  </a:txBody>
                  <a:tcPr anchor="ctr">
                    <a:solidFill>
                      <a:srgbClr val="22223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UN WFP</a:t>
                      </a:r>
                    </a:p>
                  </a:txBody>
                  <a:tcPr anchor="ctr">
                    <a:solidFill>
                      <a:srgbClr val="22223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Food Price Index, Maize, Sorghum</a:t>
                      </a:r>
                    </a:p>
                  </a:txBody>
                  <a:tcPr anchor="ctr">
                    <a:solidFill>
                      <a:srgbClr val="22223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Market → District</a:t>
                      </a:r>
                    </a:p>
                  </a:txBody>
                  <a:tcPr anchor="ctr">
                    <a:solidFill>
                      <a:srgbClr val="22223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Rainfall</a:t>
                      </a:r>
                    </a:p>
                  </a:txBody>
                  <a:tcPr anchor="ctr">
                    <a:solidFill>
                      <a:srgbClr val="1E1E3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CHIRPS</a:t>
                      </a:r>
                    </a:p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(Satellite Rainfall)</a:t>
                      </a:r>
                    </a:p>
                  </a:txBody>
                  <a:tcPr anchor="ctr">
                    <a:solidFill>
                      <a:srgbClr val="1E1E3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UCSB</a:t>
                      </a:r>
                    </a:p>
                  </a:txBody>
                  <a:tcPr anchor="ctr">
                    <a:solidFill>
                      <a:srgbClr val="1E1E3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SPI (Drought Index)</a:t>
                      </a:r>
                    </a:p>
                  </a:txBody>
                  <a:tcPr anchor="ctr">
                    <a:solidFill>
                      <a:srgbClr val="1E1E3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5km → District</a:t>
                      </a:r>
                    </a:p>
                  </a:txBody>
                  <a:tcPr anchor="ctr">
                    <a:solidFill>
                      <a:srgbClr val="1E1E3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Hydrology /</a:t>
                      </a:r>
                    </a:p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Temperature</a:t>
                      </a:r>
                    </a:p>
                  </a:txBody>
                  <a:tcPr anchor="ctr">
                    <a:solidFill>
                      <a:srgbClr val="22223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FLDAS</a:t>
                      </a:r>
                    </a:p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(Land Surface Model)</a:t>
                      </a:r>
                    </a:p>
                  </a:txBody>
                  <a:tcPr anchor="ctr">
                    <a:solidFill>
                      <a:srgbClr val="22223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NASA</a:t>
                      </a:r>
                    </a:p>
                  </a:txBody>
                  <a:tcPr anchor="ctr">
                    <a:solidFill>
                      <a:srgbClr val="22223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Soil moisture, Air temp,</a:t>
                      </a:r>
                    </a:p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Runoff, Evapotranspiration (8 vars)</a:t>
                      </a:r>
                    </a:p>
                  </a:txBody>
                  <a:tcPr anchor="ctr">
                    <a:solidFill>
                      <a:srgbClr val="22223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District monthly</a:t>
                      </a:r>
                    </a:p>
                  </a:txBody>
                  <a:tcPr anchor="ctr">
                    <a:solidFill>
                      <a:srgbClr val="22223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Vegetation</a:t>
                      </a:r>
                    </a:p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Health</a:t>
                      </a:r>
                    </a:p>
                  </a:txBody>
                  <a:tcPr anchor="ctr">
                    <a:solidFill>
                      <a:srgbClr val="1E1E3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MODIS / AVHRR</a:t>
                      </a:r>
                    </a:p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(Satellite Imagery)</a:t>
                      </a:r>
                    </a:p>
                  </a:txBody>
                  <a:tcPr anchor="ctr">
                    <a:solidFill>
                      <a:srgbClr val="1E1E3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NASA / NOAA</a:t>
                      </a:r>
                    </a:p>
                  </a:txBody>
                  <a:tcPr anchor="ctr">
                    <a:solidFill>
                      <a:srgbClr val="1E1E3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NDVI (Greenness), LST (Surface Temp),</a:t>
                      </a:r>
                    </a:p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VHI (Vegetation Health)</a:t>
                      </a:r>
                    </a:p>
                  </a:txBody>
                  <a:tcPr anchor="ctr">
                    <a:solidFill>
                      <a:srgbClr val="1E1E3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District monthly</a:t>
                      </a:r>
                    </a:p>
                  </a:txBody>
                  <a:tcPr anchor="ctr">
                    <a:solidFill>
                      <a:srgbClr val="1E1E3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Global</a:t>
                      </a:r>
                    </a:p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Climate</a:t>
                      </a:r>
                    </a:p>
                  </a:txBody>
                  <a:tcPr anchor="ctr">
                    <a:solidFill>
                      <a:srgbClr val="22223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ENSO / IOD</a:t>
                      </a:r>
                    </a:p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(Ocean-Atmosphere)</a:t>
                      </a:r>
                    </a:p>
                  </a:txBody>
                  <a:tcPr anchor="ctr">
                    <a:solidFill>
                      <a:srgbClr val="22223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NOAA / IRI</a:t>
                      </a:r>
                    </a:p>
                  </a:txBody>
                  <a:tcPr anchor="ctr">
                    <a:solidFill>
                      <a:srgbClr val="22223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El Nino Index, Indian Ocean Dipole,</a:t>
                      </a:r>
                    </a:p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Multivariate ENSO Index</a:t>
                      </a:r>
                    </a:p>
                  </a:txBody>
                  <a:tcPr anchor="ctr">
                    <a:solidFill>
                      <a:srgbClr val="22223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Global monthly</a:t>
                      </a:r>
                    </a:p>
                  </a:txBody>
                  <a:tcPr anchor="ctr">
                    <a:solidFill>
                      <a:srgbClr val="22223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Conflict</a:t>
                      </a:r>
                    </a:p>
                  </a:txBody>
                  <a:tcPr anchor="ctr">
                    <a:solidFill>
                      <a:srgbClr val="1E1E3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ACLED</a:t>
                      </a:r>
                    </a:p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(Conflict Event Data)</a:t>
                      </a:r>
                    </a:p>
                  </a:txBody>
                  <a:tcPr anchor="ctr">
                    <a:solidFill>
                      <a:srgbClr val="1E1E3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ACLED Project</a:t>
                      </a:r>
                    </a:p>
                  </a:txBody>
                  <a:tcPr anchor="ctr">
                    <a:solidFill>
                      <a:srgbClr val="1E1E3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Event count, Fatalities</a:t>
                      </a:r>
                    </a:p>
                  </a:txBody>
                  <a:tcPr anchor="ctr">
                    <a:solidFill>
                      <a:srgbClr val="1E1E3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Point → District</a:t>
                      </a:r>
                    </a:p>
                  </a:txBody>
                  <a:tcPr anchor="ctr">
                    <a:solidFill>
                      <a:srgbClr val="1E1E3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Agriculture</a:t>
                      </a:r>
                    </a:p>
                  </a:txBody>
                  <a:tcPr anchor="ctr">
                    <a:solidFill>
                      <a:srgbClr val="22223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SPAM</a:t>
                      </a:r>
                    </a:p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(Crop Presence Map)</a:t>
                      </a:r>
                    </a:p>
                  </a:txBody>
                  <a:tcPr anchor="ctr">
                    <a:solidFill>
                      <a:srgbClr val="22223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CIMMYT</a:t>
                      </a:r>
                    </a:p>
                  </a:txBody>
                  <a:tcPr anchor="ctr">
                    <a:solidFill>
                      <a:srgbClr val="22223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Crop cover fraction per district</a:t>
                      </a:r>
                    </a:p>
                  </a:txBody>
                  <a:tcPr anchor="ctr">
                    <a:solidFill>
                      <a:srgbClr val="22223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500m (static)</a:t>
                      </a:r>
                    </a:p>
                  </a:txBody>
                  <a:tcPr anchor="ctr">
                    <a:solidFill>
                      <a:srgbClr val="22223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Population</a:t>
                      </a:r>
                    </a:p>
                  </a:txBody>
                  <a:tcPr anchor="ctr">
                    <a:solidFill>
                      <a:srgbClr val="1E1E3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WorldPop</a:t>
                      </a:r>
                    </a:p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(Population Estimate)</a:t>
                      </a:r>
                    </a:p>
                  </a:txBody>
                  <a:tcPr anchor="ctr">
                    <a:solidFill>
                      <a:srgbClr val="1E1E3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WorldPop Hub</a:t>
                      </a:r>
                    </a:p>
                  </a:txBody>
                  <a:tcPr anchor="ctr">
                    <a:solidFill>
                      <a:srgbClr val="1E1E3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Population count per district</a:t>
                      </a:r>
                    </a:p>
                  </a:txBody>
                  <a:tcPr anchor="ctr">
                    <a:solidFill>
                      <a:srgbClr val="1E1E3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1km (static)</a:t>
                      </a:r>
                    </a:p>
                  </a:txBody>
                  <a:tcPr anchor="ctr">
                    <a:solidFill>
                      <a:srgbClr val="1E1E3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57607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99"/>
                </a:solidFill>
                <a:latin typeface="Calibri"/>
              </a:defRPr>
            </a:pPr>
            <a:r>
              <a:t>All sources spatially aligned to district (Admin2) boundaries  |  Temporal coverage: 2007–2025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Data Collection Details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5486400" cy="48463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34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9AF5"/>
                </a:solidFill>
                <a:latin typeface="Calibri"/>
              </a:defRPr>
            </a:pPr>
            <a:r>
              <a:t>Automated Pipeline (Halim)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9164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BBBBCC"/>
                </a:solidFill>
                <a:latin typeface="Calibri"/>
              </a:defRPr>
              <a:buChar char="●"/>
              <a:buClr>
                <a:srgbClr val="4E9AF5"/>
              </a:buClr>
            </a:pPr>
            <a:r>
              <a:t>CHIRPS (satellite rainfall): Global monthly data from UCSB (~7GB)</a:t>
            </a:r>
          </a:p>
          <a:p>
            <a:pPr>
              <a:spcAft>
                <a:spcPts val="600"/>
              </a:spcAft>
              <a:defRPr sz="1200">
                <a:solidFill>
                  <a:srgbClr val="BBBBCC"/>
                </a:solidFill>
                <a:latin typeface="Calibri"/>
              </a:defRPr>
              <a:buChar char="●"/>
              <a:buClr>
                <a:srgbClr val="4E9AF5"/>
              </a:buClr>
            </a:pPr>
            <a:r>
              <a:t>FLDAS (land surface model): NASA soil moisture, temperature, runoff</a:t>
            </a:r>
          </a:p>
          <a:p>
            <a:pPr>
              <a:spcAft>
                <a:spcPts val="600"/>
              </a:spcAft>
              <a:defRPr sz="1200">
                <a:solidFill>
                  <a:srgbClr val="BBBBCC"/>
                </a:solidFill>
                <a:latin typeface="Calibri"/>
              </a:defRPr>
              <a:buChar char="●"/>
              <a:buClr>
                <a:srgbClr val="4E9AF5"/>
              </a:buClr>
            </a:pPr>
            <a:r>
              <a:t>ACLED (conflict events): Armed conflict database (API, 2019–2025)</a:t>
            </a:r>
          </a:p>
          <a:p>
            <a:pPr>
              <a:spcAft>
                <a:spcPts val="600"/>
              </a:spcAft>
              <a:defRPr sz="1200">
                <a:solidFill>
                  <a:srgbClr val="BBBBCC"/>
                </a:solidFill>
                <a:latin typeface="Calibri"/>
              </a:defRPr>
              <a:buChar char="●"/>
              <a:buClr>
                <a:srgbClr val="4E9AF5"/>
              </a:buClr>
            </a:pPr>
            <a:r>
              <a:t>WFP (food prices): Market price data via Humanitarian Data Exchange</a:t>
            </a:r>
          </a:p>
          <a:p>
            <a:pPr>
              <a:spcAft>
                <a:spcPts val="600"/>
              </a:spcAft>
              <a:defRPr sz="1200">
                <a:solidFill>
                  <a:srgbClr val="BBBBCC"/>
                </a:solidFill>
                <a:latin typeface="Calibri"/>
              </a:defRPr>
              <a:buChar char="●"/>
              <a:buClr>
                <a:srgbClr val="4E9AF5"/>
              </a:buClr>
            </a:pPr>
            <a:r>
              <a:t>WorldPop: Population density raster (1km resolution)</a:t>
            </a:r>
          </a:p>
          <a:p>
            <a:pPr>
              <a:spcAft>
                <a:spcPts val="600"/>
              </a:spcAft>
              <a:defRPr sz="1200">
                <a:solidFill>
                  <a:srgbClr val="BBBBCC"/>
                </a:solidFill>
                <a:latin typeface="Calibri"/>
              </a:defRPr>
              <a:buChar char="●"/>
              <a:buClr>
                <a:srgbClr val="4E9AF5"/>
              </a:buClr>
            </a:pPr>
            <a:r>
              <a:t>SPAM (crop presence): Crop coverage map (500m, CIMMYT)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097280"/>
            <a:ext cx="5486400" cy="48463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92240" y="12344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9B0"/>
                </a:solidFill>
                <a:latin typeface="Calibri"/>
              </a:defRPr>
            </a:pPr>
            <a:r>
              <a:t>Additional Data (Donghee)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69164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200">
                <a:solidFill>
                  <a:srgbClr val="BBBBCC"/>
                </a:solidFill>
                <a:latin typeface="Calibri"/>
              </a:defRPr>
              <a:buChar char="●"/>
              <a:buClr>
                <a:srgbClr val="4EC9B0"/>
              </a:buClr>
            </a:pPr>
            <a:r>
              <a:t>FEWS NET IPC (food security severity classification)</a:t>
            </a:r>
          </a:p>
          <a:p>
            <a:pPr>
              <a:spcAft>
                <a:spcPts val="600"/>
              </a:spcAft>
              <a:defRPr sz="1200">
                <a:solidFill>
                  <a:srgbClr val="BBBBCC"/>
                </a:solidFill>
                <a:latin typeface="Calibri"/>
              </a:defRPr>
              <a:buChar char="●"/>
              <a:buClr>
                <a:srgbClr val="4EC9B0"/>
              </a:buClr>
            </a:pPr>
            <a:r>
              <a:t>NASA Black Marble (satellite night lights — economic proxy)</a:t>
            </a:r>
          </a:p>
          <a:p>
            <a:pPr>
              <a:spcAft>
                <a:spcPts val="600"/>
              </a:spcAft>
              <a:defRPr sz="1200">
                <a:solidFill>
                  <a:srgbClr val="BBBBCC"/>
                </a:solidFill>
                <a:latin typeface="Calibri"/>
              </a:defRPr>
              <a:buChar char="●"/>
              <a:buClr>
                <a:srgbClr val="4EC9B0"/>
              </a:buClr>
            </a:pPr>
            <a:r>
              <a:t>Dynamic World (Google Earth Engine land cover types)</a:t>
            </a:r>
          </a:p>
          <a:p>
            <a:pPr>
              <a:spcAft>
                <a:spcPts val="600"/>
              </a:spcAft>
              <a:defRPr sz="1200">
                <a:solidFill>
                  <a:srgbClr val="BBBBCC"/>
                </a:solidFill>
                <a:latin typeface="Calibri"/>
              </a:defRPr>
              <a:buChar char="●"/>
              <a:buClr>
                <a:srgbClr val="4EC9B0"/>
              </a:buClr>
            </a:pPr>
            <a:r>
              <a:t>World Bank Pink Sheet (global commodity price indices)</a:t>
            </a:r>
          </a:p>
          <a:p>
            <a:pPr>
              <a:spcAft>
                <a:spcPts val="600"/>
              </a:spcAft>
              <a:defRPr sz="1200">
                <a:solidFill>
                  <a:srgbClr val="BBBBCC"/>
                </a:solidFill>
                <a:latin typeface="Calibri"/>
              </a:defRPr>
              <a:buChar char="●"/>
              <a:buClr>
                <a:srgbClr val="4EC9B0"/>
              </a:buClr>
            </a:pPr>
            <a:r>
              <a:t>GeoBoundaries (official district boundary maps)</a:t>
            </a:r>
          </a:p>
          <a:p>
            <a:pPr>
              <a:spcAft>
                <a:spcPts val="600"/>
              </a:spcAft>
              <a:defRPr sz="1200">
                <a:solidFill>
                  <a:srgbClr val="BBBBCC"/>
                </a:solidFill>
                <a:latin typeface="Calibri"/>
              </a:defRPr>
              <a:buChar char="●"/>
              <a:buClr>
                <a:srgbClr val="4EC9B0"/>
              </a:buClr>
            </a:pPr>
            <a:r>
              <a:t>Climate Indices (El Nino, Indian Ocean Dipole from NOAA/IRI)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08076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99"/>
                </a:solidFill>
                <a:latin typeface="Calibri"/>
              </a:defRPr>
            </a:pPr>
            <a:r>
              <a:t>Note: World Bank macro indices &amp; FEWS NET (food security) data processed but reserved for future expansion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303520" y="2286000"/>
            <a:ext cx="1463040" cy="1463040"/>
          </a:xfrm>
          <a:prstGeom prst="ellipse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000"/>
              </a:spcBef>
              <a:defRPr sz="4400" b="1">
                <a:solidFill>
                  <a:srgbClr val="FFFFFF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114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Preprocessing &amp; Merging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846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CC"/>
                </a:solidFill>
                <a:latin typeface="Calibri"/>
              </a:defRPr>
            </a:pPr>
            <a:r>
              <a:t>From raw data to a unified panel dataset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End-to-End Architecture</a:t>
            </a:r>
          </a:p>
        </p:txBody>
      </p:sp>
      <p:pic>
        <p:nvPicPr>
          <p:cNvPr id="3" name="Picture 2" descr="data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914400"/>
            <a:ext cx="11247120" cy="52120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Preprocessing Pipeline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97280"/>
            <a:ext cx="365760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54864" cy="210312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234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9AF5"/>
                </a:solidFill>
                <a:latin typeface="Calibri"/>
              </a:defRPr>
            </a:pPr>
            <a:r>
              <a:t>Food Prices (WFP) → District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6002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  <a:buChar char="●"/>
              <a:buClr>
                <a:srgbClr val="4E9AF5"/>
              </a:buClr>
            </a:pPr>
            <a:r>
              <a:t>Spatial join: market lat/lon → district polygon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  <a:buChar char="●"/>
              <a:buClr>
                <a:srgbClr val="4E9AF5"/>
              </a:buClr>
            </a:pPr>
            <a:r>
              <a:t>Mean price aggregation per district/month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206240" y="1097280"/>
            <a:ext cx="365760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206240" y="1097280"/>
            <a:ext cx="54864" cy="210312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1234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9B0"/>
                </a:solidFill>
                <a:latin typeface="Calibri"/>
              </a:defRPr>
            </a:pPr>
            <a:r>
              <a:t>Rainfall (CHIRPS) → Drought Index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16002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  <a:buChar char="●"/>
              <a:buClr>
                <a:srgbClr val="4EC9B0"/>
              </a:buClr>
            </a:pPr>
            <a:r>
              <a:t>Gamma distribution fit (30-yr calibration period)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  <a:buChar char="●"/>
              <a:buClr>
                <a:srgbClr val="4EC9B0"/>
              </a:buClr>
            </a:pPr>
            <a:r>
              <a:t>Compute SPI (drought severity) per district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60" y="1097280"/>
            <a:ext cx="365760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138160" y="1097280"/>
            <a:ext cx="54864" cy="210312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0" y="1234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Land Surface (FLDAS, 8 vars)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0" y="16002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  <a:buChar char="●"/>
              <a:buClr>
                <a:srgbClr val="F59E0B"/>
              </a:buClr>
            </a:pPr>
            <a:r>
              <a:t>3-month moving average + Z-score normalization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  <a:buChar char="●"/>
              <a:buClr>
                <a:srgbClr val="F59E0B"/>
              </a:buClr>
            </a:pPr>
            <a:r>
              <a:t>Soil moisture, temperature, runoff, evaporation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4320" y="3566160"/>
            <a:ext cx="365760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274320" y="3566160"/>
            <a:ext cx="54864" cy="2103120"/>
          </a:xfrm>
          <a:prstGeom prst="rect">
            <a:avLst/>
          </a:prstGeom>
          <a:solidFill>
            <a:srgbClr val="A77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3703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77BF3"/>
                </a:solidFill>
                <a:latin typeface="Calibri"/>
              </a:defRPr>
            </a:pPr>
            <a:r>
              <a:t>Vegetation Health (MODIS/AVHRR)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406908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  <a:buChar char="●"/>
              <a:buClr>
                <a:srgbClr val="A77BF3"/>
              </a:buClr>
            </a:pPr>
            <a:r>
              <a:t>NDVI (greenness), LST (surface temp), VHI (health)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  <a:buChar char="●"/>
              <a:buClr>
                <a:srgbClr val="A77BF3"/>
              </a:buClr>
            </a:pPr>
            <a:r>
              <a:t>District-level zonal mean aggregation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206240" y="3566160"/>
            <a:ext cx="365760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206240" y="3566160"/>
            <a:ext cx="54864" cy="2103120"/>
          </a:xfrm>
          <a:prstGeom prst="rect">
            <a:avLst/>
          </a:prstGeom>
          <a:solidFill>
            <a:srgbClr val="E85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80560" y="3703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85D75"/>
                </a:solidFill>
                <a:latin typeface="Calibri"/>
              </a:defRPr>
            </a:pPr>
            <a:r>
              <a:t>Conflict Events (ACLED)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80560" y="406908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  <a:buChar char="●"/>
              <a:buClr>
                <a:srgbClr val="E85D75"/>
              </a:buClr>
            </a:pPr>
            <a:r>
              <a:t>Point-in-polygon → district; sum fatalities + events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  <a:buChar char="●"/>
              <a:buClr>
                <a:srgbClr val="E85D75"/>
              </a:buClr>
            </a:pPr>
            <a:r>
              <a:t>Missing months filled with 0 (no events recorded)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3566160"/>
            <a:ext cx="365760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38160" y="3566160"/>
            <a:ext cx="54864" cy="2103120"/>
          </a:xfrm>
          <a:prstGeom prst="rect">
            <a:avLst/>
          </a:prstGeom>
          <a:solidFill>
            <a:srgbClr val="888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12480" y="370332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88899"/>
                </a:solidFill>
                <a:latin typeface="Calibri"/>
              </a:defRPr>
            </a:pPr>
            <a:r>
              <a:t>Static Features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406908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  <a:buChar char="●"/>
              <a:buClr>
                <a:srgbClr val="888899"/>
              </a:buClr>
            </a:pPr>
            <a:r>
              <a:t>Crop map: 500m raster → crop fraction per district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  <a:buChar char="●"/>
              <a:buClr>
                <a:srgbClr val="888899"/>
              </a:buClr>
            </a:pPr>
            <a:r>
              <a:t>Population: 1km raster → total count per district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Data Merging Strategy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97280"/>
            <a:ext cx="210312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51560" y="1234440"/>
            <a:ext cx="457200" cy="457200"/>
          </a:xfrm>
          <a:prstGeom prst="ellipse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E9AF5"/>
                </a:solidFill>
                <a:latin typeface="Calibri"/>
              </a:defRPr>
            </a:pPr>
            <a:r>
              <a:t>Skeleton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21488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Calibri"/>
              </a:defRPr>
            </a:pPr>
            <a:r>
              <a:t>Year × Month × District</a:t>
            </a:r>
            <a:br/>
            <a:r>
              <a:t>cartesian product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18288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88889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606039" y="1097280"/>
            <a:ext cx="210312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383279" y="1234440"/>
            <a:ext cx="457200" cy="457200"/>
          </a:xfrm>
          <a:prstGeom prst="ellipse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88919" y="18288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EC9B0"/>
                </a:solidFill>
                <a:latin typeface="Calibri"/>
              </a:defRPr>
            </a:pPr>
            <a:r>
              <a:t>Prices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199" y="21488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Calibri"/>
              </a:defRPr>
            </a:pPr>
            <a:r>
              <a:t>Food prices joined on</a:t>
            </a:r>
            <a:br/>
            <a:r>
              <a:t>(year, month, district)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09159" y="18288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88889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37759" y="1097280"/>
            <a:ext cx="210312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714999" y="1234440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20639" y="18288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59E0B"/>
                </a:solidFill>
                <a:latin typeface="Calibri"/>
              </a:defRPr>
            </a:pPr>
            <a:r>
              <a:t>Static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74919" y="21488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Calibri"/>
              </a:defRPr>
            </a:pPr>
            <a:r>
              <a:t>Population + Crop cover</a:t>
            </a:r>
            <a:br/>
            <a:r>
              <a:t>joined on district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040879" y="18288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88889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269479" y="1097280"/>
            <a:ext cx="210312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046719" y="1234440"/>
            <a:ext cx="457200" cy="457200"/>
          </a:xfrm>
          <a:prstGeom prst="ellipse">
            <a:avLst/>
          </a:prstGeom>
          <a:solidFill>
            <a:srgbClr val="E85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52359" y="18288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E85D75"/>
                </a:solidFill>
                <a:latin typeface="Calibri"/>
              </a:defRPr>
            </a:pPr>
            <a:r>
              <a:t>Conflict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39" y="21488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Calibri"/>
              </a:defRPr>
            </a:pPr>
            <a:r>
              <a:t>Conflict events on</a:t>
            </a:r>
            <a:br/>
            <a:r>
              <a:t>(year, month, district)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599" y="182880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888899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601200" y="1097280"/>
            <a:ext cx="2103120" cy="21031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78440" y="1234440"/>
            <a:ext cx="457200" cy="457200"/>
          </a:xfrm>
          <a:prstGeom prst="ellipse">
            <a:avLst/>
          </a:prstGeom>
          <a:solidFill>
            <a:srgbClr val="A77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784080" y="1828800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A77BF3"/>
                </a:solidFill>
                <a:latin typeface="Calibri"/>
              </a:defRPr>
            </a:pPr>
            <a:r>
              <a:t>Climate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38360" y="2148840"/>
            <a:ext cx="1828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  <a:latin typeface="Calibri"/>
              </a:defRPr>
            </a:pPr>
            <a:r>
              <a:t>Land surface + Vegetation</a:t>
            </a:r>
            <a:br/>
            <a:r>
              <a:t>+ Global climate indices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7200" y="3474720"/>
            <a:ext cx="11247120" cy="27432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36118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9AF5"/>
                </a:solidFill>
                <a:latin typeface="Calibri"/>
              </a:defRPr>
            </a:pPr>
            <a:r>
              <a:t>Spatial Reference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3977639"/>
            <a:ext cx="3474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BBBBCC"/>
                </a:solidFill>
                <a:latin typeface="Calibri"/>
              </a:defRPr>
              <a:buChar char="●"/>
              <a:buClr>
                <a:srgbClr val="4E9AF5"/>
              </a:buClr>
            </a:pPr>
            <a:r>
              <a:t>GeoBoundaries district boundary maps (canonical)</a:t>
            </a:r>
          </a:p>
          <a:p>
            <a:pPr>
              <a:spcAft>
                <a:spcPts val="300"/>
              </a:spcAft>
              <a:defRPr sz="1000">
                <a:solidFill>
                  <a:srgbClr val="BBBBCC"/>
                </a:solidFill>
                <a:latin typeface="Calibri"/>
              </a:defRPr>
              <a:buChar char="●"/>
              <a:buClr>
                <a:srgbClr val="4E9AF5"/>
              </a:buClr>
            </a:pPr>
            <a:r>
              <a:t>Points-in-polygon for markets &amp; conflict</a:t>
            </a:r>
          </a:p>
          <a:p>
            <a:pPr>
              <a:spcAft>
                <a:spcPts val="300"/>
              </a:spcAft>
              <a:defRPr sz="1000">
                <a:solidFill>
                  <a:srgbClr val="BBBBCC"/>
                </a:solidFill>
                <a:latin typeface="Calibri"/>
              </a:defRPr>
              <a:buChar char="●"/>
              <a:buClr>
                <a:srgbClr val="4E9AF5"/>
              </a:buClr>
            </a:pPr>
            <a:r>
              <a:t>Zonal statistics for raster (satellite) data</a:t>
            </a:r>
          </a:p>
          <a:p>
            <a:pPr>
              <a:spcAft>
                <a:spcPts val="300"/>
              </a:spcAft>
              <a:defRPr sz="1000">
                <a:solidFill>
                  <a:srgbClr val="BBBBCC"/>
                </a:solidFill>
                <a:latin typeface="Calibri"/>
              </a:defRPr>
              <a:buChar char="●"/>
              <a:buClr>
                <a:srgbClr val="4E9AF5"/>
              </a:buClr>
            </a:pPr>
            <a:r>
              <a:t>Per-country spatial join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36118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9B0"/>
                </a:solidFill>
                <a:latin typeface="Calibri"/>
              </a:defRPr>
            </a:pPr>
            <a:r>
              <a:t>Name Matching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3977639"/>
            <a:ext cx="3474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BBBBCC"/>
                </a:solidFill>
                <a:latin typeface="Calibri"/>
              </a:defRPr>
              <a:buChar char="●"/>
              <a:buClr>
                <a:srgbClr val="4EC9B0"/>
              </a:buClr>
            </a:pPr>
            <a:r>
              <a:t>Direct match on district name</a:t>
            </a:r>
          </a:p>
          <a:p>
            <a:pPr>
              <a:spcAft>
                <a:spcPts val="300"/>
              </a:spcAft>
              <a:defRPr sz="1000">
                <a:solidFill>
                  <a:srgbClr val="BBBBCC"/>
                </a:solidFill>
                <a:latin typeface="Calibri"/>
              </a:defRPr>
              <a:buChar char="●"/>
              <a:buClr>
                <a:srgbClr val="4EC9B0"/>
              </a:buClr>
            </a:pPr>
            <a:r>
              <a:t>Fuzzy matching (approximate string matching, ≥80%)</a:t>
            </a:r>
          </a:p>
          <a:p>
            <a:pPr>
              <a:spcAft>
                <a:spcPts val="300"/>
              </a:spcAft>
              <a:defRPr sz="1000">
                <a:solidFill>
                  <a:srgbClr val="BBBBCC"/>
                </a:solidFill>
                <a:latin typeface="Calibri"/>
              </a:defRPr>
              <a:buChar char="●"/>
              <a:buClr>
                <a:srgbClr val="4EC9B0"/>
              </a:buClr>
            </a:pPr>
            <a:r>
              <a:t>Manual override dictionary for known mismatches</a:t>
            </a:r>
          </a:p>
          <a:p>
            <a:pPr>
              <a:spcAft>
                <a:spcPts val="300"/>
              </a:spcAft>
              <a:defRPr sz="1000">
                <a:solidFill>
                  <a:srgbClr val="BBBBCC"/>
                </a:solidFill>
                <a:latin typeface="Calibri"/>
              </a:defRPr>
              <a:buChar char="●"/>
              <a:buClr>
                <a:srgbClr val="4EC9B0"/>
              </a:buClr>
            </a:pPr>
            <a:r>
              <a:t>e.g., 'Nairobi' city → 'Starehe' district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12480" y="361188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59E0B"/>
                </a:solidFill>
                <a:latin typeface="Calibri"/>
              </a:defRPr>
            </a:pPr>
            <a:r>
              <a:t>Final Output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2480" y="3977639"/>
            <a:ext cx="34747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000">
                <a:solidFill>
                  <a:srgbClr val="BBBBCC"/>
                </a:solidFill>
                <a:latin typeface="Calibri"/>
              </a:defRPr>
              <a:buChar char="●"/>
              <a:buClr>
                <a:srgbClr val="F59E0B"/>
              </a:buClr>
            </a:pPr>
            <a:r>
              <a:t>Unified Parquet dataset (columnar format)</a:t>
            </a:r>
          </a:p>
          <a:p>
            <a:pPr>
              <a:spcAft>
                <a:spcPts val="300"/>
              </a:spcAft>
              <a:defRPr sz="1000">
                <a:solidFill>
                  <a:srgbClr val="BBBBCC"/>
                </a:solidFill>
                <a:latin typeface="Calibri"/>
              </a:defRPr>
              <a:buChar char="●"/>
              <a:buClr>
                <a:srgbClr val="F59E0B"/>
              </a:buClr>
            </a:pPr>
            <a:r>
              <a:t>~8,640 rows × 50+ columns</a:t>
            </a:r>
          </a:p>
          <a:p>
            <a:pPr>
              <a:spcAft>
                <a:spcPts val="300"/>
              </a:spcAft>
              <a:defRPr sz="1000">
                <a:solidFill>
                  <a:srgbClr val="BBBBCC"/>
                </a:solidFill>
                <a:latin typeface="Calibri"/>
              </a:defRPr>
              <a:buChar char="●"/>
              <a:buClr>
                <a:srgbClr val="F59E0B"/>
              </a:buClr>
            </a:pPr>
            <a:r>
              <a:t>40 districts with price observations</a:t>
            </a:r>
          </a:p>
          <a:p>
            <a:pPr>
              <a:spcAft>
                <a:spcPts val="300"/>
              </a:spcAft>
              <a:defRPr sz="1000">
                <a:solidFill>
                  <a:srgbClr val="BBBBCC"/>
                </a:solidFill>
                <a:latin typeface="Calibri"/>
              </a:defRPr>
              <a:buChar char="●"/>
              <a:buClr>
                <a:srgbClr val="F59E0B"/>
              </a:buClr>
            </a:pPr>
            <a:r>
              <a:t>Ready for feature engineering &amp; modeling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303520" y="2286000"/>
            <a:ext cx="1463040" cy="1463040"/>
          </a:xfrm>
          <a:prstGeom prst="ellipse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000"/>
              </a:spcBef>
              <a:defRPr sz="4400" b="1">
                <a:solidFill>
                  <a:srgbClr val="FFFFFF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114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Feature Engineering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846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CC"/>
                </a:solidFill>
                <a:latin typeface="Calibri"/>
              </a:defRPr>
            </a:pPr>
            <a:r>
              <a:t>Lag strategy and leakage prevention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Lag Strategy &amp; Feature Engineering</a:t>
            </a:r>
          </a:p>
        </p:txBody>
      </p:sp>
      <p:pic>
        <p:nvPicPr>
          <p:cNvPr id="3" name="Picture 2" descr="lag_strate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822960"/>
            <a:ext cx="11430000" cy="384048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457200" y="4846320"/>
            <a:ext cx="11247120" cy="164592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49377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9AF5"/>
                </a:solidFill>
                <a:latin typeface="Calibri"/>
              </a:defRPr>
            </a:pPr>
            <a:r>
              <a:t>Past Price Features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035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1,2,3,6,12 month lags +</a:t>
            </a:r>
            <a:br/>
            <a:r>
              <a:t>rolling averages + year-over-year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160" y="49377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C9B0"/>
                </a:solidFill>
                <a:latin typeface="Calibri"/>
              </a:defRPr>
            </a:pPr>
            <a:r>
              <a:t>External Feature Shift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566160" y="53035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Climate/conflict features shifted</a:t>
            </a:r>
            <a:br/>
            <a:r>
              <a:t>by forecast horizon (prevents leakage)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0" y="49377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59E0B"/>
                </a:solidFill>
                <a:latin typeface="Calibri"/>
              </a:defRPr>
            </a:pPr>
            <a:r>
              <a:t>Seasonal Encoding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53035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Cyclical month encoding</a:t>
            </a:r>
            <a:br/>
            <a:r>
              <a:t>(sine/cosine transformation)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235440" y="493776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E85D75"/>
                </a:solidFill>
                <a:latin typeface="Calibri"/>
              </a:defRPr>
            </a:pPr>
            <a:r>
              <a:t>Warmup Period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235440" y="530352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  <a:latin typeface="Calibri"/>
              </a:defRPr>
            </a:pPr>
            <a:r>
              <a:t>Drop first 12 months per district</a:t>
            </a:r>
            <a:br/>
            <a:r>
              <a:t>to build sufficient history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303520" y="2286000"/>
            <a:ext cx="1463040" cy="1463040"/>
          </a:xfrm>
          <a:prstGeom prst="ellipse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000"/>
              </a:spcBef>
              <a:defRPr sz="4400" b="1">
                <a:solidFill>
                  <a:srgbClr val="FFFFFF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114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Modeling &amp;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846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CC"/>
                </a:solidFill>
                <a:latin typeface="Calibri"/>
              </a:defRPr>
            </a:pPr>
            <a:r>
              <a:t>XGBoost (Gradient Boosting) with Spatio-Temporal Cross-Validation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Spatio-Temporal Cross-Validation Design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822960"/>
            <a:ext cx="3200400" cy="5486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9AF5"/>
                </a:solidFill>
                <a:latin typeface="Calibri"/>
              </a:defRPr>
            </a:pPr>
            <a:r>
              <a:t>XGBoost (Gradient Boosting)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325880"/>
            <a:ext cx="2743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n_estimators = 500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learning_rate = 0.05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max_depth = 6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min_child_weight = 5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subsample = 0.8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colsample_bytree = 0.8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reg_alpha = 0.1 (L1)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reg_lambda = 1.0 (L2)</a:t>
            </a:r>
          </a:p>
          <a:p>
            <a:pPr>
              <a:spcAft>
                <a:spcPts val="400"/>
              </a:spcAft>
              <a:defRPr sz="1100">
                <a:solidFill>
                  <a:srgbClr val="BBBBCC"/>
                </a:solidFill>
                <a:latin typeface="Calibri"/>
              </a:defRPr>
            </a:pPr>
            <a:r>
              <a:t>early_stopping = 30 rounds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114800"/>
            <a:ext cx="2834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EC9B0"/>
                </a:solidFill>
                <a:latin typeface="Calibri"/>
              </a:defRPr>
            </a:pPr>
            <a:r>
              <a:t>Combined Cross-Validation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480560"/>
            <a:ext cx="28346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5 spatial × 3 temporal</a:t>
            </a:r>
            <a:br/>
            <a:r>
              <a:t>= 15 folds</a:t>
            </a:r>
            <a:br/>
            <a:r>
              <a:t>per target × horizon</a:t>
            </a:r>
            <a:br/>
            <a:br/>
            <a:r>
              <a:t>→ 135 total model fits</a:t>
            </a:r>
            <a:br/>
            <a:r>
              <a:t>(3 targets × 3 horizons × 15 folds)</a:t>
            </a:r>
          </a:p>
        </p:txBody>
      </p:sp>
      <p:pic>
        <p:nvPicPr>
          <p:cNvPr id="8" name="Picture 7" descr="cv_desig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822960"/>
            <a:ext cx="8229600" cy="54864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303520" y="2286000"/>
            <a:ext cx="1463040" cy="1463040"/>
          </a:xfrm>
          <a:prstGeom prst="ellipse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>
              <a:spcBef>
                <a:spcPts val="1000"/>
              </a:spcBef>
              <a:defRPr sz="4400" b="1">
                <a:solidFill>
                  <a:srgbClr val="FFFFFF"/>
                </a:solidFill>
                <a:latin typeface="Calibri"/>
              </a:defRPr>
            </a:pPr>
            <a:r>
              <a:t>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41148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4846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BBBCC"/>
                </a:solidFill>
                <a:latin typeface="Calibri"/>
              </a:defRPr>
            </a:pPr>
            <a:r>
              <a:t>Model performance across targets and horizons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Hold-Out Test Results (2024+)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685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Train on all data before 2024, test on 2024+ — simulates real-world deployment</a:t>
            </a:r>
          </a:p>
        </p:txBody>
      </p:sp>
      <p:pic>
        <p:nvPicPr>
          <p:cNvPr id="4" name="Picture 3" descr="holdout_r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097280"/>
            <a:ext cx="5943600" cy="5303520"/>
          </a:xfrm>
          <a:prstGeom prst="rect">
            <a:avLst/>
          </a:prstGeom>
        </p:spPr>
      </p:pic>
      <p:pic>
        <p:nvPicPr>
          <p:cNvPr id="5" name="Picture 4" descr="holdout_map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097280"/>
            <a:ext cx="59436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Horizon Degradation Analysis</a:t>
            </a:r>
          </a:p>
        </p:txBody>
      </p:sp>
      <p:pic>
        <p:nvPicPr>
          <p:cNvPr id="3" name="Picture 2" descr="horizon_degra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914400"/>
            <a:ext cx="1143000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126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99"/>
                </a:solidFill>
                <a:latin typeface="Calibri"/>
              </a:defRPr>
            </a:pPr>
            <a:r>
              <a:t>Accuracy naturally degrades at longer forecast horizons  |  Food Price Index most stable  |  Sorghum most volatile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Kenya vs Somalia Performance</a:t>
            </a:r>
          </a:p>
        </p:txBody>
      </p:sp>
      <p:pic>
        <p:nvPicPr>
          <p:cNvPr id="3" name="Picture 2" descr="country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9418320" cy="5029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6126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888899"/>
                </a:solidFill>
                <a:latin typeface="Calibri"/>
              </a:defRPr>
            </a:pPr>
            <a:r>
              <a:t>Kenya consistently more accurate than Somalia — likely due to higher data density, lower conflict, more stable markets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Feature Group Importance</a:t>
            </a:r>
          </a:p>
        </p:txBody>
      </p:sp>
      <p:pic>
        <p:nvPicPr>
          <p:cNvPr id="3" name="Picture 2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914400"/>
            <a:ext cx="10332720" cy="43891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486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Calibri"/>
              </a:defRPr>
            </a:pPr>
            <a:r>
              <a:t>Past price history dominates (77–94%)  |  Land surface &amp; climate contribute 10–20% for commodity prices</a:t>
            </a:r>
            <a:br/>
            <a:r>
              <a:t>At longer horizons, external features (climate, conflict) gain relative importance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Spatio-Temporal CV vs Hold-Out Comparison</a:t>
            </a:r>
          </a:p>
        </p:txBody>
      </p:sp>
      <p:pic>
        <p:nvPicPr>
          <p:cNvPr id="3" name="Picture 2" descr="cv_vs_holdou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914400"/>
            <a:ext cx="9418320" cy="484632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5943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  <a:latin typeface="Calibri"/>
              </a:defRPr>
            </a:pPr>
            <a:r>
              <a:t>Spatio-Temporal CV is intentionally conservative (held-out districts were never seen during training)</a:t>
            </a:r>
            <a:br/>
            <a:r>
              <a:t>Hold-out reflects realistic deployment: train on all districts, predict future time periods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Detailed Spatio-Temporal CV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822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  <a:latin typeface="Calibri"/>
              </a:defRPr>
            </a:pPr>
            <a:r>
              <a:t>15 folds (5 spatial × 3 temporal) per target × horizon  |  2025 excluded from CV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280160"/>
          <a:ext cx="10698480" cy="457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097280"/>
                <a:gridCol w="2377440"/>
                <a:gridCol w="2377440"/>
                <a:gridCol w="2560320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Target</a:t>
                      </a:r>
                    </a:p>
                  </a:txBody>
                  <a:tcPr anchor="ctr">
                    <a:solidFill>
                      <a:srgbClr val="2D2D4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Horizon</a:t>
                      </a:r>
                    </a:p>
                  </a:txBody>
                  <a:tcPr anchor="ctr">
                    <a:solidFill>
                      <a:srgbClr val="2D2D4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R² (Variance Explained)</a:t>
                      </a:r>
                    </a:p>
                  </a:txBody>
                  <a:tcPr anchor="ctr">
                    <a:solidFill>
                      <a:srgbClr val="2D2D4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MAPE (% Error)</a:t>
                      </a:r>
                    </a:p>
                  </a:txBody>
                  <a:tcPr anchor="ctr">
                    <a:solidFill>
                      <a:srgbClr val="2D2D4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RMSE (Prediction Error)</a:t>
                      </a:r>
                    </a:p>
                  </a:txBody>
                  <a:tcPr anchor="ctr">
                    <a:solidFill>
                      <a:srgbClr val="2D2D4A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Food Price Index</a:t>
                      </a:r>
                    </a:p>
                  </a:txBody>
                  <a:tcPr anchor="ctr">
                    <a:solidFill>
                      <a:srgbClr val="22223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h=1</a:t>
                      </a:r>
                    </a:p>
                  </a:txBody>
                  <a:tcPr anchor="ctr">
                    <a:solidFill>
                      <a:srgbClr val="22223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0.00 ± 0.92</a:t>
                      </a:r>
                    </a:p>
                  </a:txBody>
                  <a:tcPr anchor="ctr">
                    <a:solidFill>
                      <a:srgbClr val="22223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9.68% ± 6.57%</a:t>
                      </a:r>
                    </a:p>
                  </a:txBody>
                  <a:tcPr anchor="ctr">
                    <a:solidFill>
                      <a:srgbClr val="22223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0.189 ± 0.137</a:t>
                      </a:r>
                    </a:p>
                  </a:txBody>
                  <a:tcPr anchor="ctr">
                    <a:solidFill>
                      <a:srgbClr val="22223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Food Price Index</a:t>
                      </a:r>
                    </a:p>
                  </a:txBody>
                  <a:tcPr anchor="ctr">
                    <a:solidFill>
                      <a:srgbClr val="1E1E3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h=2</a:t>
                      </a:r>
                    </a:p>
                  </a:txBody>
                  <a:tcPr anchor="ctr">
                    <a:solidFill>
                      <a:srgbClr val="1E1E3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-0.34 ± 1.17</a:t>
                      </a:r>
                    </a:p>
                  </a:txBody>
                  <a:tcPr anchor="ctr">
                    <a:solidFill>
                      <a:srgbClr val="1E1E3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11.75% ± 7.29%</a:t>
                      </a:r>
                    </a:p>
                  </a:txBody>
                  <a:tcPr anchor="ctr">
                    <a:solidFill>
                      <a:srgbClr val="1E1E3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0.219 ± 0.147</a:t>
                      </a:r>
                    </a:p>
                  </a:txBody>
                  <a:tcPr anchor="ctr">
                    <a:solidFill>
                      <a:srgbClr val="1E1E3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Food Price Index</a:t>
                      </a:r>
                    </a:p>
                  </a:txBody>
                  <a:tcPr anchor="ctr">
                    <a:solidFill>
                      <a:srgbClr val="22223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h=3</a:t>
                      </a:r>
                    </a:p>
                  </a:txBody>
                  <a:tcPr anchor="ctr">
                    <a:solidFill>
                      <a:srgbClr val="22223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-0.65 ± 1.22</a:t>
                      </a:r>
                    </a:p>
                  </a:txBody>
                  <a:tcPr anchor="ctr">
                    <a:solidFill>
                      <a:srgbClr val="22223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13.43% ± 7.38%</a:t>
                      </a:r>
                    </a:p>
                  </a:txBody>
                  <a:tcPr anchor="ctr">
                    <a:solidFill>
                      <a:srgbClr val="22223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0.243 ± 0.147</a:t>
                      </a:r>
                    </a:p>
                  </a:txBody>
                  <a:tcPr anchor="ctr">
                    <a:solidFill>
                      <a:srgbClr val="22223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Maize</a:t>
                      </a:r>
                    </a:p>
                  </a:txBody>
                  <a:tcPr anchor="ctr">
                    <a:solidFill>
                      <a:srgbClr val="1E1E3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h=1</a:t>
                      </a:r>
                    </a:p>
                  </a:txBody>
                  <a:tcPr anchor="ctr">
                    <a:solidFill>
                      <a:srgbClr val="1E1E3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0.71 ± 0.34</a:t>
                      </a:r>
                    </a:p>
                  </a:txBody>
                  <a:tcPr anchor="ctr">
                    <a:solidFill>
                      <a:srgbClr val="1E1E3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7.99% ± 2.01%</a:t>
                      </a:r>
                    </a:p>
                  </a:txBody>
                  <a:tcPr anchor="ctr">
                    <a:solidFill>
                      <a:srgbClr val="1E1E3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4,300 ± 2,859</a:t>
                      </a:r>
                    </a:p>
                  </a:txBody>
                  <a:tcPr anchor="ctr">
                    <a:solidFill>
                      <a:srgbClr val="1E1E3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Maize</a:t>
                      </a:r>
                    </a:p>
                  </a:txBody>
                  <a:tcPr anchor="ctr">
                    <a:solidFill>
                      <a:srgbClr val="22223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h=2</a:t>
                      </a:r>
                    </a:p>
                  </a:txBody>
                  <a:tcPr anchor="ctr">
                    <a:solidFill>
                      <a:srgbClr val="22223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0.60 ± 0.42</a:t>
                      </a:r>
                    </a:p>
                  </a:txBody>
                  <a:tcPr anchor="ctr">
                    <a:solidFill>
                      <a:srgbClr val="22223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10.93% ± 2.13%</a:t>
                      </a:r>
                    </a:p>
                  </a:txBody>
                  <a:tcPr anchor="ctr">
                    <a:solidFill>
                      <a:srgbClr val="22223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5,133 ± 2,962</a:t>
                      </a:r>
                    </a:p>
                  </a:txBody>
                  <a:tcPr anchor="ctr">
                    <a:solidFill>
                      <a:srgbClr val="22223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Maize</a:t>
                      </a:r>
                    </a:p>
                  </a:txBody>
                  <a:tcPr anchor="ctr">
                    <a:solidFill>
                      <a:srgbClr val="1E1E3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h=3</a:t>
                      </a:r>
                    </a:p>
                  </a:txBody>
                  <a:tcPr anchor="ctr">
                    <a:solidFill>
                      <a:srgbClr val="1E1E3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0.49 ± 0.47</a:t>
                      </a:r>
                    </a:p>
                  </a:txBody>
                  <a:tcPr anchor="ctr">
                    <a:solidFill>
                      <a:srgbClr val="1E1E3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13.33% ± 2.40%</a:t>
                      </a:r>
                    </a:p>
                  </a:txBody>
                  <a:tcPr anchor="ctr">
                    <a:solidFill>
                      <a:srgbClr val="1E1E3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5,706 ± 2,938</a:t>
                      </a:r>
                    </a:p>
                  </a:txBody>
                  <a:tcPr anchor="ctr">
                    <a:solidFill>
                      <a:srgbClr val="1E1E3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Sorghum</a:t>
                      </a:r>
                    </a:p>
                  </a:txBody>
                  <a:tcPr anchor="ctr">
                    <a:solidFill>
                      <a:srgbClr val="22223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h=1</a:t>
                      </a:r>
                    </a:p>
                  </a:txBody>
                  <a:tcPr anchor="ctr">
                    <a:solidFill>
                      <a:srgbClr val="22223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0.76 ± 0.29</a:t>
                      </a:r>
                    </a:p>
                  </a:txBody>
                  <a:tcPr anchor="ctr">
                    <a:solidFill>
                      <a:srgbClr val="22223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9.28% ± 5.60%</a:t>
                      </a:r>
                    </a:p>
                  </a:txBody>
                  <a:tcPr anchor="ctr">
                    <a:solidFill>
                      <a:srgbClr val="22223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3,469 ± 3,914</a:t>
                      </a:r>
                    </a:p>
                  </a:txBody>
                  <a:tcPr anchor="ctr">
                    <a:solidFill>
                      <a:srgbClr val="22223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Sorghum</a:t>
                      </a:r>
                    </a:p>
                  </a:txBody>
                  <a:tcPr anchor="ctr">
                    <a:solidFill>
                      <a:srgbClr val="1E1E3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h=2</a:t>
                      </a:r>
                    </a:p>
                  </a:txBody>
                  <a:tcPr anchor="ctr">
                    <a:solidFill>
                      <a:srgbClr val="1E1E3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0.65 ± 0.33</a:t>
                      </a:r>
                    </a:p>
                  </a:txBody>
                  <a:tcPr anchor="ctr">
                    <a:solidFill>
                      <a:srgbClr val="1E1E3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13.26% ± 6.44%</a:t>
                      </a:r>
                    </a:p>
                  </a:txBody>
                  <a:tcPr anchor="ctr">
                    <a:solidFill>
                      <a:srgbClr val="1E1E3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4,094 ± 4,194</a:t>
                      </a:r>
                    </a:p>
                  </a:txBody>
                  <a:tcPr anchor="ctr">
                    <a:solidFill>
                      <a:srgbClr val="1E1E34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Sorghum</a:t>
                      </a:r>
                    </a:p>
                  </a:txBody>
                  <a:tcPr anchor="ctr">
                    <a:solidFill>
                      <a:srgbClr val="22223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h=3</a:t>
                      </a:r>
                    </a:p>
                  </a:txBody>
                  <a:tcPr anchor="ctr">
                    <a:solidFill>
                      <a:srgbClr val="22223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0.52 ± 0.34</a:t>
                      </a:r>
                    </a:p>
                  </a:txBody>
                  <a:tcPr anchor="ctr">
                    <a:solidFill>
                      <a:srgbClr val="22223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16.74% ± 6.77%</a:t>
                      </a:r>
                    </a:p>
                  </a:txBody>
                  <a:tcPr anchor="ctr">
                    <a:solidFill>
                      <a:srgbClr val="22223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>
                          <a:solidFill>
                            <a:srgbClr val="BBBBCC"/>
                          </a:solidFill>
                          <a:latin typeface="Calibri"/>
                        </a:defRPr>
                      </a:pPr>
                      <a:r>
                        <a:t>4,673 ± 4,377</a:t>
                      </a:r>
                    </a:p>
                  </a:txBody>
                  <a:tcPr anchor="ctr">
                    <a:solidFill>
                      <a:srgbClr val="222238"/>
                    </a:solidFill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Key Takeaways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11247120" cy="914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73152" cy="914400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9AF5"/>
                </a:solidFill>
                <a:latin typeface="Calibri"/>
              </a:defRPr>
            </a:pPr>
            <a:r>
              <a:t>Multi-Source Integration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5448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8 heterogeneous sources (climate, conflict, satellite, economic) → unified district-level panel for Kenya &amp; Somalia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148839"/>
            <a:ext cx="11247120" cy="914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2148839"/>
            <a:ext cx="73152" cy="914400"/>
          </a:xfrm>
          <a:prstGeom prst="rect">
            <a:avLst/>
          </a:prstGeom>
          <a:solidFill>
            <a:srgbClr val="4EC9B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24027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9B0"/>
                </a:solidFill>
                <a:latin typeface="Calibri"/>
              </a:defRPr>
            </a:pPr>
            <a:r>
              <a:t>Rigorous Evaluation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606039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Spatio-Temporal Cross-Validation (350km spatial separation × expanding time window, 2025 excluded) prevents data leakage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200400"/>
            <a:ext cx="11247120" cy="914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200400"/>
            <a:ext cx="73152" cy="9144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32918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59E0B"/>
                </a:solidFill>
                <a:latin typeface="Calibri"/>
              </a:defRPr>
            </a:pPr>
            <a:r>
              <a:t>Strong Predictive Performance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365760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Hold-out R² (variance explained) &gt; 0.91 for all targets; Maize at 1-month achieves R² = 0.989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4251959"/>
            <a:ext cx="11247120" cy="914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4251959"/>
            <a:ext cx="73152" cy="914400"/>
          </a:xfrm>
          <a:prstGeom prst="rect">
            <a:avLst/>
          </a:prstGeom>
          <a:solidFill>
            <a:srgbClr val="E85D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34339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E85D75"/>
                </a:solidFill>
                <a:latin typeface="Calibri"/>
              </a:defRPr>
            </a:pPr>
            <a:r>
              <a:t>Country-Level Insights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709159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Kenya predictions more accurate than Somalia — likely due to data availability, lower conflict, more stable markets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303520"/>
            <a:ext cx="11247120" cy="914400"/>
          </a:xfrm>
          <a:prstGeom prst="roundRect">
            <a:avLst>
              <a:gd name="adj" fmla="val 5000"/>
            </a:avLst>
          </a:prstGeom>
          <a:solidFill>
            <a:srgbClr val="2525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" y="5303520"/>
            <a:ext cx="73152" cy="914400"/>
          </a:xfrm>
          <a:prstGeom prst="rect">
            <a:avLst/>
          </a:prstGeom>
          <a:solidFill>
            <a:srgbClr val="A77B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53949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77BF3"/>
                </a:solidFill>
                <a:latin typeface="Calibri"/>
              </a:defRPr>
            </a:pPr>
            <a:r>
              <a:t>Forecast Horizon Trade-off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7607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  <a:latin typeface="Calibri"/>
              </a:defRPr>
            </a:pPr>
            <a:r>
              <a:t>1-month forecast most reliable; 3-month forecast error (MAPE) increases by 5–10 percentage points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0" y="3474720"/>
            <a:ext cx="2743200" cy="27432"/>
          </a:xfrm>
          <a:prstGeom prst="rect">
            <a:avLst/>
          </a:prstGeom>
          <a:solidFill>
            <a:srgbClr val="4E9A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38404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BBBBCC"/>
                </a:solidFill>
                <a:latin typeface="Calibri"/>
              </a:defRPr>
            </a:pPr>
            <a:r>
              <a:t>Questions?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846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BBBCC"/>
                </a:solidFill>
                <a:latin typeface="Calibri"/>
              </a:defRPr>
            </a:pPr>
            <a:r>
              <a:t>Halim Jun  ·  Donghee Lee  ·  Sheldon Lu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99"/>
                </a:solidFill>
                <a:latin typeface="Calibri"/>
              </a:defRPr>
            </a:pPr>
            <a:r>
              <a:t>Columbia University  ·  Spring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