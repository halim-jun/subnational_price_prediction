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3" r:id="rId4"/>
    <p:sldId id="258" r:id="rId5"/>
    <p:sldId id="259" r:id="rId6"/>
    <p:sldId id="260" r:id="rId7"/>
    <p:sldId id="274" r:id="rId8"/>
    <p:sldId id="261" r:id="rId9"/>
    <p:sldId id="262" r:id="rId10"/>
    <p:sldId id="263" r:id="rId11"/>
    <p:sldId id="264" r:id="rId12"/>
    <p:sldId id="272" r:id="rId13"/>
    <p:sldId id="265" r:id="rId14"/>
    <p:sldId id="271" r:id="rId15"/>
    <p:sldId id="266" r:id="rId16"/>
    <p:sldId id="267" r:id="rId17"/>
    <p:sldId id="268" r:id="rId18"/>
    <p:sldId id="269" r:id="rId19"/>
    <p:sldId id="270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97"/>
    <p:restoredTop sz="94694"/>
  </p:normalViewPr>
  <p:slideViewPr>
    <p:cSldViewPr snapToGrid="0" snapToObjects="1">
      <p:cViewPr>
        <p:scale>
          <a:sx n="49" d="100"/>
          <a:sy n="49" d="100"/>
        </p:scale>
        <p:origin x="1904" y="17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fews.net/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rPr dirty="0"/>
              <a:t>Subnational Food Price Prediction</a:t>
            </a:r>
            <a:br>
              <a:rPr dirty="0"/>
            </a:br>
            <a:r>
              <a:rPr dirty="0"/>
              <a:t>in East Africa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BBBBB"/>
                </a:solidFill>
                <a:latin typeface="Calibri"/>
              </a:defRPr>
            </a:pPr>
            <a:r>
              <a:t>Integrating Climate, Conflict, and Socioeconomic Data at Admin2 Level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4206240"/>
            <a:ext cx="4846320" cy="254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99999"/>
                </a:solidFill>
                <a:latin typeface="Calibri"/>
              </a:defRPr>
            </a:pPr>
            <a:r>
              <a:t>Kenya  ·  Somalia  |  2007–2025  |  Monthly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103327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196F3"/>
                </a:solidFill>
                <a:latin typeface="Calibri"/>
              </a:defRPr>
            </a:pPr>
            <a:r>
              <a:rPr lang="en-US" dirty="0"/>
              <a:t>Mar 11th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rtlCol="0" anchor="ctr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Data Sources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3109611"/>
              </p:ext>
            </p:extLst>
          </p:nvPr>
        </p:nvGraphicFramePr>
        <p:xfrm>
          <a:off x="548640" y="1280160"/>
          <a:ext cx="11064240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Source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Variables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Resolution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Coverage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rPr dirty="0"/>
                        <a:t>Target (Price)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rPr lang="en-US" dirty="0" err="1"/>
                        <a:t>WorldBank</a:t>
                      </a:r>
                      <a:r>
                        <a:rPr lang="en-US" dirty="0"/>
                        <a:t> (From WFP)</a:t>
                      </a:r>
                      <a:endParaRPr dirty="0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Maize price, Sorghum price,</a:t>
                      </a:r>
                    </a:p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Food Price Index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rPr dirty="0"/>
                        <a:t>Admin2 mean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2007–2026</a:t>
                      </a:r>
                    </a:p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KEN, SOM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rPr dirty="0"/>
                        <a:t>Climate</a:t>
                      </a:r>
                    </a:p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rPr dirty="0"/>
                        <a:t>(Hydrology)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rPr dirty="0"/>
                        <a:t>FLDAS</a:t>
                      </a:r>
                    </a:p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rPr dirty="0"/>
                        <a:t>(NASA</a:t>
                      </a:r>
                      <a:r>
                        <a:rPr lang="en-US" dirty="0"/>
                        <a:t> - </a:t>
                      </a:r>
                      <a:r>
                        <a:rPr 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1100" b="0" i="0" u="sng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2"/>
                        </a:rPr>
                        <a:t>Famine Early Warning Systems Network (FEWS NET)</a:t>
                      </a:r>
                      <a:r>
                        <a:rPr dirty="0"/>
                        <a:t>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rPr dirty="0"/>
                        <a:t>Temperature, Soil Moisture,</a:t>
                      </a:r>
                    </a:p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rPr dirty="0"/>
                        <a:t>Precipitation, Evaporation</a:t>
                      </a:r>
                    </a:p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rPr dirty="0"/>
                        <a:t>(3-month Z-scores, 8 vars)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rPr dirty="0"/>
                        <a:t>Admin2</a:t>
                      </a:r>
                    </a:p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rPr dirty="0"/>
                        <a:t>(zonal mean)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2007–2025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rPr dirty="0"/>
                        <a:t>Vegetation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rPr dirty="0"/>
                        <a:t>MODIS</a:t>
                      </a:r>
                    </a:p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rPr dirty="0"/>
                        <a:t>(Google Earth Engine)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rPr dirty="0"/>
                        <a:t>NDVI</a:t>
                      </a:r>
                      <a:r>
                        <a:rPr lang="en-US" dirty="0"/>
                        <a:t>(Normalized difference vegetation index) </a:t>
                      </a:r>
                      <a:r>
                        <a:rPr dirty="0"/>
                        <a:t>, LST</a:t>
                      </a:r>
                      <a:endParaRPr lang="en-US" dirty="0"/>
                    </a:p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rPr lang="en-KR" dirty="0"/>
                        <a:t>(Land surface temperature)</a:t>
                      </a:r>
                      <a:r>
                        <a:rPr dirty="0"/>
                        <a:t>, VHI</a:t>
                      </a:r>
                      <a:r>
                        <a:rPr lang="en-US" dirty="0"/>
                        <a:t>(Vegetation index health)</a:t>
                      </a:r>
                      <a:endParaRPr dirty="0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Admin2</a:t>
                      </a:r>
                    </a:p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(zonal mean)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2007–2025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Climate Indices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rPr dirty="0"/>
                        <a:t>NOAA / BOM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rPr dirty="0"/>
                        <a:t>NINO3.4</a:t>
                      </a:r>
                      <a:r>
                        <a:rPr lang="en-US" dirty="0"/>
                        <a:t>(El </a:t>
                      </a:r>
                      <a:r>
                        <a:rPr lang="en-US" dirty="0" err="1"/>
                        <a:t>nino</a:t>
                      </a:r>
                      <a:r>
                        <a:rPr lang="en-US" dirty="0"/>
                        <a:t>/La </a:t>
                      </a:r>
                      <a:r>
                        <a:rPr lang="en-US" dirty="0" err="1"/>
                        <a:t>nina</a:t>
                      </a:r>
                      <a:r>
                        <a:rPr lang="en-US" dirty="0"/>
                        <a:t>)</a:t>
                      </a:r>
                      <a:r>
                        <a:rPr dirty="0"/>
                        <a:t>, IOD, MEI,</a:t>
                      </a:r>
                    </a:p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rPr dirty="0"/>
                        <a:t>Western V Gradient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Global</a:t>
                      </a:r>
                    </a:p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(broadcast)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2007–2025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Conflict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ACLED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Event count, Fatalities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Point → Admin2</a:t>
                      </a:r>
                    </a:p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(spatial join)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2007–2026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Population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WorldPop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Population density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1km raster</a:t>
                      </a:r>
                    </a:p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→ Admin2 sum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2020 snapshot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Cropland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ASAP (JRC)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Crop cover fraction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250m raster</a:t>
                      </a:r>
                    </a:p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→ Admin2 mean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rPr dirty="0"/>
                        <a:t>Static (2023)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DC677D6-F1EE-FC69-686D-A26EFA94ECCB}"/>
              </a:ext>
            </a:extLst>
          </p:cNvPr>
          <p:cNvSpPr txBox="1"/>
          <p:nvPr/>
        </p:nvSpPr>
        <p:spPr>
          <a:xfrm>
            <a:off x="472965" y="6303607"/>
            <a:ext cx="968002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0" i="0" dirty="0">
                <a:effectLst/>
                <a:latin typeface="Arial" panose="020B0604020202020204" pitchFamily="34" charset="0"/>
              </a:rPr>
              <a:t>*IOD - Indian Ocean Dipole is a </a:t>
            </a:r>
            <a:r>
              <a:rPr lang="en-US" sz="1000" b="1" i="0" dirty="0">
                <a:effectLst/>
                <a:latin typeface="Arial" panose="020B0604020202020204" pitchFamily="34" charset="0"/>
              </a:rPr>
              <a:t>climate</a:t>
            </a:r>
            <a:r>
              <a:rPr lang="en-US" sz="1000" b="0" i="0" dirty="0">
                <a:effectLst/>
                <a:latin typeface="Arial" panose="020B0604020202020204" pitchFamily="34" charset="0"/>
              </a:rPr>
              <a:t> pattern affecting the Indian Ocean.</a:t>
            </a:r>
          </a:p>
          <a:p>
            <a:r>
              <a:rPr lang="en-US" sz="1000" dirty="0">
                <a:latin typeface="Arial" panose="020B0604020202020204" pitchFamily="34" charset="0"/>
              </a:rPr>
              <a:t>*MEI - </a:t>
            </a:r>
            <a:r>
              <a:rPr lang="en-US" sz="1000" dirty="0"/>
              <a:t>El Niño/Southern Oscillation (ENSO) index</a:t>
            </a:r>
          </a:p>
          <a:p>
            <a:r>
              <a:rPr lang="en-US" sz="1000" dirty="0"/>
              <a:t>*Western V gradient - a climate index measuring Pacific Ocean sea surface temperature (SST) differences, often linked to severe East African droughts</a:t>
            </a:r>
            <a:endParaRPr lang="en-KR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0EAC87-1C75-23CE-361E-1F7EE1D27631}"/>
              </a:ext>
            </a:extLst>
          </p:cNvPr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rtlCol="0" anchor="ctr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rPr dirty="0"/>
              <a:t>Data Sources</a:t>
            </a:r>
            <a:r>
              <a:rPr lang="en-US" dirty="0"/>
              <a:t> (1) : Target data</a:t>
            </a:r>
            <a:endParaRPr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EBDD4EF-744F-52EB-3851-F8E1E239E9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807" y="2242097"/>
            <a:ext cx="7772400" cy="30275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4E045C8-B456-CCC3-1682-D28200A35DE3}"/>
              </a:ext>
            </a:extLst>
          </p:cNvPr>
          <p:cNvSpPr txBox="1"/>
          <p:nvPr/>
        </p:nvSpPr>
        <p:spPr>
          <a:xfrm>
            <a:off x="462454" y="5651966"/>
            <a:ext cx="968002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0" i="0" dirty="0">
                <a:effectLst/>
                <a:latin typeface="Arial" panose="020B0604020202020204" pitchFamily="34" charset="0"/>
              </a:rPr>
              <a:t>Too much missing data in WFP price dataset</a:t>
            </a:r>
          </a:p>
          <a:p>
            <a:r>
              <a:rPr lang="en-US" sz="1000" dirty="0">
                <a:latin typeface="Arial" panose="020B0604020202020204" pitchFamily="34" charset="0"/>
              </a:rPr>
              <a:t>Needs an interpolation</a:t>
            </a:r>
          </a:p>
          <a:p>
            <a:r>
              <a:rPr lang="en-KR" sz="1000" dirty="0"/>
              <a:t>No dataset on Ethiopia</a:t>
            </a:r>
          </a:p>
          <a:p>
            <a:r>
              <a:rPr lang="en-KR" sz="1000" dirty="0"/>
              <a:t>Chain linear regression</a:t>
            </a:r>
          </a:p>
        </p:txBody>
      </p:sp>
    </p:spTree>
    <p:extLst>
      <p:ext uri="{BB962C8B-B14F-4D97-AF65-F5344CB8AC3E}">
        <p14:creationId xmlns:p14="http://schemas.microsoft.com/office/powerpoint/2010/main" val="7068231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rtlCol="0" anchor="ctr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Variable Design &amp; Feature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Why these variables?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5029200" cy="15183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rPr lang="en-US" dirty="0"/>
              <a:t>FLDAS 3-month Z-scores: balance between noise (1m) and lag (6m)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rPr dirty="0"/>
              <a:t>Dropped redundant features to reduce multicollinearity:</a:t>
            </a:r>
          </a:p>
          <a:p>
            <a:pPr lvl="1">
              <a:spcAft>
                <a:spcPts val="400"/>
              </a:spcAft>
              <a:defRPr sz="1200">
                <a:solidFill>
                  <a:srgbClr val="757575"/>
                </a:solidFill>
                <a:latin typeface="Calibri"/>
              </a:defRPr>
            </a:pPr>
            <a:r>
              <a:rPr dirty="0" err="1"/>
              <a:t>RadT</a:t>
            </a:r>
            <a:r>
              <a:rPr dirty="0"/>
              <a:t> ↔ Tair (r=0.92), EVI ↔ NDVI (r=0.97)</a:t>
            </a:r>
          </a:p>
          <a:p>
            <a:pPr lvl="1">
              <a:spcAft>
                <a:spcPts val="400"/>
              </a:spcAft>
              <a:defRPr sz="1200">
                <a:solidFill>
                  <a:srgbClr val="757575"/>
                </a:solidFill>
                <a:latin typeface="Calibri"/>
              </a:defRPr>
            </a:pPr>
            <a:r>
              <a:rPr dirty="0"/>
              <a:t>SoilMoi00_40cm ≈ linear combo of 00_10 + 10_40</a:t>
            </a:r>
          </a:p>
          <a:p>
            <a:pPr lvl="1">
              <a:spcAft>
                <a:spcPts val="400"/>
              </a:spcAft>
              <a:defRPr sz="1200">
                <a:solidFill>
                  <a:srgbClr val="757575"/>
                </a:solidFill>
                <a:latin typeface="Calibri"/>
              </a:defRPr>
            </a:pPr>
            <a:r>
              <a:rPr dirty="0" err="1"/>
              <a:t>Total_Runoff</a:t>
            </a:r>
            <a:r>
              <a:rPr dirty="0"/>
              <a:t> ↔ Qs (r=0.93)</a:t>
            </a:r>
          </a:p>
          <a:p>
            <a:pPr lvl="1">
              <a:spcAft>
                <a:spcPts val="400"/>
              </a:spcAft>
              <a:defRPr sz="1200">
                <a:solidFill>
                  <a:srgbClr val="757575"/>
                </a:solidFill>
                <a:latin typeface="Calibri"/>
              </a:defRPr>
            </a:pPr>
            <a:r>
              <a:rPr dirty="0"/>
              <a:t>VHI kept as composite of VCI + TCI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Calibri"/>
              </a:defRPr>
            </a:pPr>
            <a:r>
              <a:t>Feature groups (31 total at h=1)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828800"/>
            <a:ext cx="5029200" cy="502920"/>
          </a:xfrm>
          <a:prstGeom prst="round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>
              <a:defRPr sz="1000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Price / </a:t>
            </a:r>
            <a:r>
              <a:rPr dirty="0"/>
              <a:t>Autoregressive (15)  —  lag_1/2/3/6/12 + rolling mean/std</a:t>
            </a:r>
            <a:br>
              <a:rPr dirty="0"/>
            </a:br>
            <a:r>
              <a:rPr dirty="0"/>
              <a:t>+ year-over-year change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377440"/>
            <a:ext cx="5029200" cy="502920"/>
          </a:xfrm>
          <a:prstGeom prst="round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>
              <a:defRPr sz="1000">
                <a:solidFill>
                  <a:srgbClr val="FFFFFF"/>
                </a:solidFill>
                <a:latin typeface="Calibri"/>
              </a:defRPr>
            </a:pPr>
            <a:r>
              <a:rPr dirty="0"/>
              <a:t>FLDAS (8)  —  Temp, Soil Moisture (2 depths),</a:t>
            </a:r>
            <a:br>
              <a:rPr dirty="0"/>
            </a:br>
            <a:r>
              <a:rPr dirty="0"/>
              <a:t>Rainfall, </a:t>
            </a:r>
            <a:r>
              <a:rPr dirty="0" err="1"/>
              <a:t>Evap</a:t>
            </a:r>
            <a:r>
              <a:rPr dirty="0"/>
              <a:t>, Runoff (2), Water Balance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926080"/>
            <a:ext cx="5029200" cy="50292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>
              <a:defRPr sz="1000">
                <a:solidFill>
                  <a:srgbClr val="FFFFFF"/>
                </a:solidFill>
                <a:latin typeface="Calibri"/>
              </a:defRPr>
            </a:pPr>
            <a:r>
              <a:t>Vegetation (3)  —  NDVI, LST, VHI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3474720"/>
            <a:ext cx="5029200" cy="50292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>
              <a:defRPr sz="1000">
                <a:solidFill>
                  <a:srgbClr val="FFFFFF"/>
                </a:solidFill>
                <a:latin typeface="Calibri"/>
              </a:defRPr>
            </a:pPr>
            <a:r>
              <a:t>Climate Indices (4)  —  NINO3.4, IOD, Western V, MEI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4023360"/>
            <a:ext cx="5029200" cy="502920"/>
          </a:xfrm>
          <a:prstGeom prst="round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>
              <a:defRPr sz="1000">
                <a:solidFill>
                  <a:srgbClr val="FFFFFF"/>
                </a:solidFill>
                <a:latin typeface="Calibri"/>
              </a:defRPr>
            </a:pPr>
            <a:r>
              <a:t>Conflict (2)  —  Event count, Fatalities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572000"/>
            <a:ext cx="5029200" cy="50292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>
              <a:defRPr sz="1000">
                <a:solidFill>
                  <a:srgbClr val="FFFFFF"/>
                </a:solidFill>
                <a:latin typeface="Calibri"/>
              </a:defRPr>
            </a:pPr>
            <a:r>
              <a:t>Static (2)  —  Population, Crop cover fraction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5120640"/>
            <a:ext cx="5029200" cy="502920"/>
          </a:xfrm>
          <a:prstGeom prst="round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>
              <a:defRPr sz="1000">
                <a:solidFill>
                  <a:srgbClr val="FFFFFF"/>
                </a:solidFill>
                <a:latin typeface="Calibri"/>
              </a:defRPr>
            </a:pPr>
            <a:r>
              <a:rPr dirty="0"/>
              <a:t>Temporal (2)  —  sin/cos month encoding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5669279"/>
            <a:ext cx="5029200" cy="502920"/>
          </a:xfrm>
          <a:prstGeom prst="roundRect">
            <a:avLst/>
          </a:prstGeom>
          <a:solidFill>
            <a:srgbClr val="60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>
              <a:defRPr sz="1000">
                <a:solidFill>
                  <a:srgbClr val="FFFFFF"/>
                </a:solidFill>
                <a:latin typeface="Calibri"/>
              </a:defRPr>
            </a:pPr>
            <a:r>
              <a:t>Spatial ID (2)  —  Country, Admin2 (encoded)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401" y="4679603"/>
            <a:ext cx="5227319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57575"/>
                </a:solidFill>
                <a:latin typeface="Calibri"/>
              </a:defRPr>
            </a:pPr>
            <a:r>
              <a:rPr dirty="0"/>
              <a:t>Key: All exogenous features (climate, conflict, vegetation) are lagged by forecast horizon h months</a:t>
            </a:r>
            <a:br>
              <a:rPr dirty="0"/>
            </a:br>
            <a:r>
              <a:rPr dirty="0"/>
              <a:t>→ No data leakage: only information available at prediction time is used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rtlCol="0" anchor="ctr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Spatial Integration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Calibri"/>
              </a:defRPr>
            </a:pPr>
            <a:r>
              <a:t>All datasets unified to Admin2 level via GeoBoundaries polygons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011680" cy="640080"/>
          </a:xfrm>
          <a:prstGeom prst="round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rPr dirty="0"/>
              <a:t>Prices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19202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57575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874519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Spatial join (point-in-polygon)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21488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57575"/>
                </a:solidFill>
                <a:latin typeface="Calibri"/>
              </a:defRPr>
            </a:pPr>
            <a:r>
              <a:t>Per-country join to prevent</a:t>
            </a:r>
            <a:br/>
            <a:r>
              <a:t>cross-border misassignment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78608"/>
            <a:ext cx="2011680" cy="640080"/>
          </a:xfrm>
          <a:prstGeom prst="round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ACLED Conflict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670048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57575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624327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Spatial join (point-in-polygon)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898648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57575"/>
                </a:solidFill>
                <a:latin typeface="Calibri"/>
              </a:defRPr>
            </a:pPr>
            <a:r>
              <a:t>Centroid coordinates</a:t>
            </a:r>
            <a:br/>
            <a:r>
              <a:t>→ Admin2 polygons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328415"/>
            <a:ext cx="2011680" cy="64008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WorldPop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419856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57575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374135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rPr dirty="0"/>
              <a:t>Zonal statistics (raster → polygon)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3648456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57575"/>
                </a:solidFill>
                <a:latin typeface="Calibri"/>
              </a:defRPr>
            </a:pPr>
            <a:r>
              <a:t>Sum population within</a:t>
            </a:r>
            <a:br/>
            <a:r>
              <a:t>Admin2 (all_touched=True)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078224"/>
            <a:ext cx="2011680" cy="64008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rPr dirty="0"/>
              <a:t>Crop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4169663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57575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4123944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Direct name match + fuzzy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4398264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57575"/>
                </a:solidFill>
                <a:latin typeface="Calibri"/>
              </a:defRPr>
            </a:pPr>
            <a:r>
              <a:t>GeoBoundaries names as</a:t>
            </a:r>
            <a:br/>
            <a:r>
              <a:t>canonical reference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828032"/>
            <a:ext cx="2011680" cy="640080"/>
          </a:xfrm>
          <a:prstGeom prst="round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rPr dirty="0"/>
              <a:t>FLDAS / Vegetation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4919472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57575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4873752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Pre-aggregated to Admin2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5148072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57575"/>
                </a:solidFill>
                <a:latin typeface="Calibri"/>
              </a:defRPr>
            </a:pPr>
            <a:r>
              <a:t>Zonal mean from raster</a:t>
            </a:r>
            <a:br/>
            <a:r>
              <a:t>in preprocessing step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577840"/>
            <a:ext cx="2011680" cy="64008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rPr dirty="0"/>
              <a:t>Climate Indices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56692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57575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562356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Broadcast (global)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5897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57575"/>
                </a:solidFill>
                <a:latin typeface="Calibri"/>
              </a:defRPr>
            </a:pPr>
            <a:r>
              <a:t>Same monthly value for</a:t>
            </a:r>
            <a:br/>
            <a:r>
              <a:t>all Admin2 regions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182880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Calibri"/>
              </a:defRPr>
            </a:pPr>
            <a:r>
              <a:t>Merge order: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228600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1. Skeleton: years × months × priced admins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2. ← Price aggregates (left join)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3. ← Population (left join on admin2)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4. ← Crop cover (left join on admin2)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5. ← ACLED conflict (left join on y/m/admin2)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6. ← FLDAS (left join on y/m/iso/admin2)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7. ← Vegetation (left join on y/m/iso/admin2)</a:t>
            </a:r>
          </a:p>
          <a:p>
            <a:pPr>
              <a:spcAft>
                <a:spcPts val="400"/>
              </a:spcAft>
              <a:defRPr sz="1200">
                <a:solidFill>
                  <a:srgbClr val="1A1A2E"/>
                </a:solidFill>
                <a:latin typeface="Calibri"/>
              </a:defRPr>
            </a:pPr>
            <a:r>
              <a:t>8. ← Climate Indices (left join on y/m)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rtlCol="0" anchor="ctr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Final Merged Dataset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2011680" cy="14630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3600" b="1">
                <a:solidFill>
                  <a:srgbClr val="2196F3"/>
                </a:solidFill>
                <a:latin typeface="Calibri"/>
              </a:defRPr>
            </a:pPr>
            <a:r>
              <a:t>110</a:t>
            </a:r>
          </a:p>
          <a:p>
            <a:pPr algn="ctr">
              <a:defRPr sz="1100">
                <a:solidFill>
                  <a:srgbClr val="757575"/>
                </a:solidFill>
                <a:latin typeface="Calibri"/>
              </a:defRPr>
            </a:pPr>
            <a:r>
              <a:t>Admin2 regions</a:t>
            </a:r>
            <a:br/>
            <a:r>
              <a:t>(67 KEN + 43 SOM)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71800" y="1280160"/>
            <a:ext cx="2011680" cy="14630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3600" b="1">
                <a:solidFill>
                  <a:srgbClr val="2196F3"/>
                </a:solidFill>
                <a:latin typeface="Calibri"/>
              </a:defRPr>
            </a:pPr>
            <a:r>
              <a:t>228</a:t>
            </a:r>
          </a:p>
          <a:p>
            <a:pPr algn="ctr">
              <a:defRPr sz="1100">
                <a:solidFill>
                  <a:srgbClr val="757575"/>
                </a:solidFill>
                <a:latin typeface="Calibri"/>
              </a:defRPr>
            </a:pPr>
            <a:r>
              <a:t>Months</a:t>
            </a:r>
            <a:br/>
            <a:r>
              <a:t>(2007-01 to 2025-12)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212080" y="1280160"/>
            <a:ext cx="2011680" cy="14630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3600" b="1">
                <a:solidFill>
                  <a:srgbClr val="2196F3"/>
                </a:solidFill>
                <a:latin typeface="Calibri"/>
              </a:defRPr>
            </a:pPr>
            <a:r>
              <a:t>25,080</a:t>
            </a:r>
          </a:p>
          <a:p>
            <a:pPr algn="ctr">
              <a:defRPr sz="1100">
                <a:solidFill>
                  <a:srgbClr val="757575"/>
                </a:solidFill>
                <a:latin typeface="Calibri"/>
              </a:defRPr>
            </a:pPr>
            <a:r>
              <a:t>Total rows</a:t>
            </a:r>
            <a:br/>
            <a:r>
              <a:t>(110 × 228)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1280160"/>
            <a:ext cx="2011680" cy="14630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3600" b="1">
                <a:solidFill>
                  <a:srgbClr val="2196F3"/>
                </a:solidFill>
                <a:latin typeface="Calibri"/>
              </a:defRPr>
            </a:pPr>
            <a:r>
              <a:t>54</a:t>
            </a:r>
          </a:p>
          <a:p>
            <a:pPr algn="ctr">
              <a:defRPr sz="1100">
                <a:solidFill>
                  <a:srgbClr val="757575"/>
                </a:solidFill>
                <a:latin typeface="Calibri"/>
              </a:defRPr>
            </a:pPr>
            <a:r>
              <a:t>Columns</a:t>
            </a:r>
            <a:br/>
            <a:r>
              <a:t>(3 targets + 51 features)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92640" y="1280160"/>
            <a:ext cx="2011680" cy="14630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3600" b="1">
                <a:solidFill>
                  <a:srgbClr val="2196F3"/>
                </a:solidFill>
                <a:latin typeface="Calibri"/>
              </a:defRPr>
            </a:pPr>
            <a:r>
              <a:t>0</a:t>
            </a:r>
          </a:p>
          <a:p>
            <a:pPr algn="ctr">
              <a:defRPr sz="1100">
                <a:solidFill>
                  <a:srgbClr val="757575"/>
                </a:solidFill>
                <a:latin typeface="Calibri"/>
              </a:defRPr>
            </a:pPr>
            <a:r>
              <a:t>Null values</a:t>
            </a:r>
            <a:br/>
            <a:r>
              <a:t>(100% complete)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17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Calibri"/>
              </a:defRPr>
            </a:pPr>
            <a:r>
              <a:t>Key design decisions: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298 Admin2 regions excluded — zero price observations (not WFP-monitored)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2026 rows dropped — future placeholder months with no feature data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Conflict NaN → 0 (no events = genuinely zero), Crop cover NaN → 0 (urban/desert)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All targets (food_price_index, maize, sorghum) have identical temporal coverage</a:t>
            </a:r>
          </a:p>
        </p:txBody>
      </p:sp>
      <p:pic>
        <p:nvPicPr>
          <p:cNvPr id="10" name="Picture 9" descr="feature_corre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572000"/>
            <a:ext cx="2523744" cy="21031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0" y="475488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57575"/>
                </a:solidFill>
                <a:latin typeface="Calibri"/>
              </a:defRPr>
            </a:pPr>
            <a:r>
              <a:t>Feature correlation matrix shows expected structure:</a:t>
            </a:r>
            <a:br/>
            <a:r>
              <a:t>• FLDAS soil moisture vars cluster together</a:t>
            </a:r>
            <a:br/>
            <a:r>
              <a:t>• NDVI inversely correlated with LST (r=-0.75)</a:t>
            </a:r>
            <a:br/>
            <a:r>
              <a:t>• Climate indices (NINO34, MEI) correlated (r=0.69)</a:t>
            </a:r>
            <a:br/>
            <a:r>
              <a:t>• Conflict weakly correlated with all other features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eature_correlation.png">
            <a:extLst>
              <a:ext uri="{FF2B5EF4-FFF2-40B4-BE49-F238E27FC236}">
                <a16:creationId xmlns:a16="http://schemas.microsoft.com/office/drawing/2014/main" id="{39F1B045-C48C-F9A1-6823-1C8FFC38D2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471" y="486979"/>
            <a:ext cx="7645225" cy="6371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4023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rtlCol="0" anchor="ctr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Model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Calibri"/>
              </a:defRPr>
            </a:pPr>
            <a:r>
              <a:rPr dirty="0" err="1"/>
              <a:t>XGBoost</a:t>
            </a:r>
            <a:r>
              <a:rPr dirty="0"/>
              <a:t> with Autoregressive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rPr dirty="0"/>
              <a:t>3 Targets: </a:t>
            </a:r>
            <a:r>
              <a:rPr dirty="0" err="1"/>
              <a:t>food_price_index</a:t>
            </a:r>
            <a:r>
              <a:rPr dirty="0"/>
              <a:t>, maize, sorghum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rPr dirty="0"/>
              <a:t>3 Horizons: h=1, h=2, h=3 months ahead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rPr dirty="0"/>
              <a:t>= 9 independent models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endParaRPr dirty="0"/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rPr dirty="0"/>
              <a:t>Temporal split: Train 2008–2023, Test 2024–2025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rPr dirty="0"/>
              <a:t>Early stopping on last 10% of train (≈2022–2023)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44336"/>
                </a:solidFill>
                <a:latin typeface="Calibri"/>
              </a:defRPr>
            </a:pPr>
            <a:r>
              <a:rPr dirty="0"/>
              <a:t>Leakage prevention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9768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rPr dirty="0"/>
              <a:t>Price lags: only lag ≥ h available</a:t>
            </a:r>
          </a:p>
          <a:p>
            <a:pPr lvl="1">
              <a:spcAft>
                <a:spcPts val="400"/>
              </a:spcAft>
              <a:defRPr sz="1100">
                <a:solidFill>
                  <a:srgbClr val="757575"/>
                </a:solidFill>
                <a:latin typeface="Calibri"/>
              </a:defRPr>
            </a:pPr>
            <a:r>
              <a:rPr dirty="0"/>
              <a:t>h=1: lag_1,2,3,6,12</a:t>
            </a:r>
          </a:p>
          <a:p>
            <a:pPr lvl="1">
              <a:spcAft>
                <a:spcPts val="400"/>
              </a:spcAft>
              <a:defRPr sz="1100">
                <a:solidFill>
                  <a:srgbClr val="757575"/>
                </a:solidFill>
                <a:latin typeface="Calibri"/>
              </a:defRPr>
            </a:pPr>
            <a:r>
              <a:rPr dirty="0"/>
              <a:t>h=3: lag_3,6,12 only (lag_1,2 unknown)</a:t>
            </a:r>
          </a:p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rPr dirty="0"/>
              <a:t>Exogenous features: shifted by h months</a:t>
            </a:r>
          </a:p>
          <a:p>
            <a:pPr lvl="1">
              <a:spcAft>
                <a:spcPts val="400"/>
              </a:spcAft>
              <a:defRPr sz="1100">
                <a:solidFill>
                  <a:srgbClr val="757575"/>
                </a:solidFill>
                <a:latin typeface="Calibri"/>
              </a:defRPr>
            </a:pPr>
            <a:r>
              <a:rPr dirty="0"/>
              <a:t>e.g., h=3 uses NDVI, conflict from 3 months ago</a:t>
            </a:r>
          </a:p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rPr dirty="0"/>
              <a:t>Static features (population, cropland): always available</a:t>
            </a:r>
          </a:p>
          <a:p>
            <a:pPr>
              <a:spcAft>
                <a:spcPts val="4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rPr dirty="0"/>
              <a:t>Raw 'year' excluded — tree models can't extrapolate trends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4572000"/>
            <a:ext cx="5669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57575"/>
                </a:solidFill>
                <a:latin typeface="Calibri"/>
              </a:defRPr>
            </a:pPr>
            <a:r>
              <a:t>Autoregressive features dominate (~97%) — food prices are highly</a:t>
            </a:r>
            <a:br/>
            <a:r>
              <a:t>persistent. Exogenous features (climate, conflict) explain deviations</a:t>
            </a:r>
            <a:br/>
            <a:r>
              <a:t>from the trend — the signal that matters for early warning.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rtlCol="0" anchor="ctr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Performance: 3 Targets × 3 Horizons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106984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Horizon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R²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MAPE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KEN MAPE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SOM MAPE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Food Price Index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h = 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0.946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4CAF50"/>
                          </a:solidFill>
                          <a:latin typeface="Calibri"/>
                        </a:defRPr>
                      </a:pPr>
                      <a:r>
                        <a:t>2.3%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4CAF50"/>
                          </a:solidFill>
                          <a:latin typeface="Calibri"/>
                        </a:defRPr>
                      </a:pPr>
                      <a:r>
                        <a:t>2.4%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4CAF50"/>
                          </a:solidFill>
                          <a:latin typeface="Calibri"/>
                        </a:defRPr>
                      </a:pPr>
                      <a:r>
                        <a:t>2.2%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endParaRPr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h = 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0.900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4CAF50"/>
                          </a:solidFill>
                          <a:latin typeface="Calibri"/>
                        </a:defRPr>
                      </a:pPr>
                      <a:r>
                        <a:t>3.3%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4CAF50"/>
                          </a:solidFill>
                          <a:latin typeface="Calibri"/>
                        </a:defRPr>
                      </a:pPr>
                      <a:r>
                        <a:t>3.7%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4CAF50"/>
                          </a:solidFill>
                          <a:latin typeface="Calibri"/>
                        </a:defRPr>
                      </a:pPr>
                      <a:r>
                        <a:t>2.7%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endParaRPr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h = 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0.849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4CAF50"/>
                          </a:solidFill>
                          <a:latin typeface="Calibri"/>
                        </a:defRPr>
                      </a:pPr>
                      <a:r>
                        <a:t>4.3%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5.1%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4CAF50"/>
                          </a:solidFill>
                          <a:latin typeface="Calibri"/>
                        </a:defRPr>
                      </a:pPr>
                      <a:r>
                        <a:t>3.0%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Maize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h =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0.988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4CAF50"/>
                          </a:solidFill>
                          <a:latin typeface="Calibri"/>
                        </a:defRPr>
                      </a:pPr>
                      <a:r>
                        <a:t>4.2%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4CAF50"/>
                          </a:solidFill>
                          <a:latin typeface="Calibri"/>
                        </a:defRPr>
                      </a:pPr>
                      <a:r>
                        <a:t>3.2%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5.7%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h =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0.977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6.1%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4CAF50"/>
                          </a:solidFill>
                          <a:latin typeface="Calibri"/>
                        </a:defRPr>
                      </a:pPr>
                      <a:r>
                        <a:t>4.7%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8.4%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h =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rPr dirty="0"/>
                        <a:t>0.969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rPr dirty="0"/>
                        <a:t>7.3%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rPr dirty="0"/>
                        <a:t>5.8%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rPr dirty="0"/>
                        <a:t>9.7%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Sorghum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h = 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0.965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5.6%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4CAF50"/>
                          </a:solidFill>
                          <a:latin typeface="Calibri"/>
                        </a:defRPr>
                      </a:pPr>
                      <a:r>
                        <a:t>3.1%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9.5%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endParaRPr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h = 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0.937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8.2%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5.0%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44336"/>
                          </a:solidFill>
                          <a:latin typeface="Calibri"/>
                        </a:defRPr>
                      </a:pPr>
                      <a:r>
                        <a:t>13.2%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endParaRPr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h = 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rPr dirty="0"/>
                        <a:t>0.918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44336"/>
                          </a:solidFill>
                          <a:latin typeface="Calibri"/>
                        </a:defRPr>
                      </a:pPr>
                      <a:r>
                        <a:rPr dirty="0"/>
                        <a:t>10.8%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rPr dirty="0"/>
                        <a:t>7.9%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44336"/>
                          </a:solidFill>
                          <a:latin typeface="Calibri"/>
                        </a:defRPr>
                      </a:pPr>
                      <a:r>
                        <a:rPr dirty="0"/>
                        <a:t>15.3%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5577840"/>
            <a:ext cx="106984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57575"/>
                </a:solidFill>
                <a:latin typeface="Calibri"/>
              </a:defRPr>
            </a:pPr>
            <a:r>
              <a:rPr dirty="0"/>
              <a:t>Food Price Index is easiest to predict (normalized, cross-country comparable).  </a:t>
            </a:r>
            <a:endParaRPr lang="en-US" dirty="0"/>
          </a:p>
          <a:p>
            <a:pPr algn="l">
              <a:defRPr sz="1400" b="0">
                <a:solidFill>
                  <a:srgbClr val="757575"/>
                </a:solidFill>
                <a:latin typeface="Calibri"/>
              </a:defRPr>
            </a:pPr>
            <a:r>
              <a:rPr dirty="0"/>
              <a:t>Sorghum in Somalia is hardest (h=3: 15.3% MAPE) — high volatility, thinner markets.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rtlCol="0" anchor="ctr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Performance Degradation Across Horizons</a:t>
            </a:r>
          </a:p>
        </p:txBody>
      </p:sp>
      <p:pic>
        <p:nvPicPr>
          <p:cNvPr id="3" name="Picture 2" descr="horizon_degra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47120" cy="386776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rtlCol="0" anchor="ctr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Feature Importance Shifts: h=1 → h=3</a:t>
            </a:r>
          </a:p>
        </p:txBody>
      </p:sp>
      <p:pic>
        <p:nvPicPr>
          <p:cNvPr id="3" name="Picture 2" descr="importance_shift.png"/>
          <p:cNvPicPr>
            <a:picLocks noChangeAspect="1"/>
          </p:cNvPicPr>
          <p:nvPr/>
        </p:nvPicPr>
        <p:blipFill>
          <a:blip r:embed="rId2"/>
          <a:srcRect b="63972"/>
          <a:stretch>
            <a:fillRect/>
          </a:stretch>
        </p:blipFill>
        <p:spPr>
          <a:xfrm>
            <a:off x="829494" y="1978062"/>
            <a:ext cx="9242664" cy="29018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6692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57575"/>
                </a:solidFill>
                <a:latin typeface="Calibri"/>
              </a:defRPr>
            </a:pPr>
            <a:r>
              <a:t>As forecast horizon grows, autoregressive importance drops (98% → 91%) and exogenous features gain weight.  Climate indices and FLDAS roughly double their share.  Maize h=3: country_iso jumps to 7% (KEN vs SOM price scale difference).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4D0D4-8658-800F-38C6-80CA90DDC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E5F3CB8-40B8-0122-B667-C38787497068}"/>
              </a:ext>
            </a:extLst>
          </p:cNvPr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rtlCol="0" anchor="ctr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Actual vs Predicted</a:t>
            </a:r>
          </a:p>
        </p:txBody>
      </p:sp>
      <p:pic>
        <p:nvPicPr>
          <p:cNvPr id="3" name="Picture 2" descr="actual_vs_predicted_grid.png">
            <a:extLst>
              <a:ext uri="{FF2B5EF4-FFF2-40B4-BE49-F238E27FC236}">
                <a16:creationId xmlns:a16="http://schemas.microsoft.com/office/drawing/2014/main" id="{89F5E155-A146-6C9E-8688-99C6F361EB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4254"/>
          <a:stretch>
            <a:fillRect/>
          </a:stretch>
        </p:blipFill>
        <p:spPr>
          <a:xfrm>
            <a:off x="152773" y="1664745"/>
            <a:ext cx="11612880" cy="3528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4798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rtlCol="0" anchor="ctr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Actual vs Predicted</a:t>
            </a:r>
          </a:p>
        </p:txBody>
      </p:sp>
      <p:pic>
        <p:nvPicPr>
          <p:cNvPr id="3" name="Picture 2" descr="actual_vs_predicted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407" y="-1258807"/>
            <a:ext cx="11612880" cy="1014154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87118-2B5E-5EA6-8974-39CC4C225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F475C2F-3DAE-2966-1D5C-73EE29833911}"/>
              </a:ext>
            </a:extLst>
          </p:cNvPr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rtlCol="0" anchor="ctr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Actual vs Predicted</a:t>
            </a:r>
          </a:p>
        </p:txBody>
      </p:sp>
      <p:pic>
        <p:nvPicPr>
          <p:cNvPr id="3" name="Picture 2" descr="actual_vs_predicted_grid.png">
            <a:extLst>
              <a:ext uri="{FF2B5EF4-FFF2-40B4-BE49-F238E27FC236}">
                <a16:creationId xmlns:a16="http://schemas.microsoft.com/office/drawing/2014/main" id="{91245564-174D-13B2-81FA-581AFC1C9A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755" y="-1672814"/>
            <a:ext cx="11612880" cy="9870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8724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rtlCol="0" anchor="ctr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Where Does the Model Struggle?</a:t>
            </a:r>
          </a:p>
        </p:txBody>
      </p:sp>
      <p:pic>
        <p:nvPicPr>
          <p:cNvPr id="3" name="Picture 2" descr="worst_admins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5669280" cy="4811706"/>
          </a:xfrm>
          <a:prstGeom prst="rect">
            <a:avLst/>
          </a:prstGeom>
        </p:spPr>
      </p:pic>
      <p:pic>
        <p:nvPicPr>
          <p:cNvPr id="4" name="Picture 3" descr="per_admin_perform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097280"/>
            <a:ext cx="5943600" cy="779170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rtlCol="0" anchor="ctr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Temporal Error Patterns &amp; Price Regime Analysis</a:t>
            </a:r>
          </a:p>
        </p:txBody>
      </p:sp>
      <p:pic>
        <p:nvPicPr>
          <p:cNvPr id="3" name="Picture 2" descr="temporal_error_patte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6858000" cy="7347857"/>
          </a:xfrm>
          <a:prstGeom prst="rect">
            <a:avLst/>
          </a:prstGeom>
        </p:spPr>
      </p:pic>
      <p:pic>
        <p:nvPicPr>
          <p:cNvPr id="4" name="Picture 3" descr="spike_analys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097280"/>
            <a:ext cx="4754880" cy="1584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5669280"/>
            <a:ext cx="11612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57575"/>
                </a:solidFill>
                <a:latin typeface="Calibri"/>
              </a:defRPr>
            </a:pPr>
            <a:r>
              <a:t>Price crashes (&lt;-1σ) and spikes (&gt;+1σ) show higher MAPE — the model is better at predicting stable periods than extreme deviations.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rtlCol="0" anchor="ctr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Sample Admin2 Time Series (Best &amp; Worst)</a:t>
            </a:r>
          </a:p>
        </p:txBody>
      </p:sp>
      <p:pic>
        <p:nvPicPr>
          <p:cNvPr id="3" name="Picture 2" descr="timeseries_food_price_ind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1005840"/>
            <a:ext cx="3931920" cy="4013010"/>
          </a:xfrm>
          <a:prstGeom prst="rect">
            <a:avLst/>
          </a:prstGeom>
        </p:spPr>
      </p:pic>
      <p:pic>
        <p:nvPicPr>
          <p:cNvPr id="4" name="Picture 3" descr="timeseries_maiz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005840"/>
            <a:ext cx="3931920" cy="4013010"/>
          </a:xfrm>
          <a:prstGeom prst="rect">
            <a:avLst/>
          </a:prstGeom>
        </p:spPr>
      </p:pic>
      <p:pic>
        <p:nvPicPr>
          <p:cNvPr id="5" name="Picture 4" descr="timeseries_sorghu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1005840"/>
            <a:ext cx="3931920" cy="401301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rtlCol="0" anchor="ctr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Residual Analysis (h=1)</a:t>
            </a:r>
          </a:p>
        </p:txBody>
      </p:sp>
      <p:pic>
        <p:nvPicPr>
          <p:cNvPr id="3" name="Picture 2" descr="residual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612880" cy="985623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rtlCol="0" anchor="ctr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Key Findings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Calibri"/>
              </a:defRPr>
            </a:pPr>
            <a:r>
              <a:t>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rPr dirty="0"/>
              <a:t>Food prices are highly persistent — autoregressive</a:t>
            </a:r>
          </a:p>
          <a:p>
            <a:pPr lvl="1">
              <a:spcAft>
                <a:spcPts val="400"/>
              </a:spcAft>
              <a:defRPr sz="1200">
                <a:solidFill>
                  <a:srgbClr val="757575"/>
                </a:solidFill>
                <a:latin typeface="Calibri"/>
              </a:defRPr>
            </a:pPr>
            <a:r>
              <a:rPr dirty="0"/>
              <a:t>features dominate at ~97% importance (h=1)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endParaRPr dirty="0"/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rPr dirty="0"/>
              <a:t>Exogenous features gain importance at longer horizons</a:t>
            </a:r>
          </a:p>
          <a:p>
            <a:pPr lvl="1">
              <a:spcAft>
                <a:spcPts val="400"/>
              </a:spcAft>
              <a:defRPr sz="1200">
                <a:solidFill>
                  <a:srgbClr val="757575"/>
                </a:solidFill>
                <a:latin typeface="Calibri"/>
              </a:defRPr>
            </a:pPr>
            <a:r>
              <a:rPr dirty="0"/>
              <a:t>Climate indices + FLDAS double their share at h=3</a:t>
            </a:r>
          </a:p>
          <a:p>
            <a:pPr lvl="1">
              <a:spcAft>
                <a:spcPts val="400"/>
              </a:spcAft>
              <a:defRPr sz="1200">
                <a:solidFill>
                  <a:srgbClr val="757575"/>
                </a:solidFill>
                <a:latin typeface="Calibri"/>
              </a:defRPr>
            </a:pPr>
            <a:r>
              <a:rPr dirty="0"/>
              <a:t>Validates the climate → price transmission channel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endParaRPr dirty="0"/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rPr dirty="0"/>
              <a:t>Sorghum in Somalia is the hardest prediction task</a:t>
            </a:r>
          </a:p>
          <a:p>
            <a:pPr lvl="1">
              <a:spcAft>
                <a:spcPts val="400"/>
              </a:spcAft>
              <a:defRPr sz="1200">
                <a:solidFill>
                  <a:srgbClr val="757575"/>
                </a:solidFill>
                <a:latin typeface="Calibri"/>
              </a:defRPr>
            </a:pPr>
            <a:r>
              <a:rPr dirty="0"/>
              <a:t>h=3 MAPE: 15.3% (vs 5.1% for </a:t>
            </a:r>
            <a:r>
              <a:rPr dirty="0" err="1"/>
              <a:t>food_price_index</a:t>
            </a:r>
            <a:r>
              <a:rPr dirty="0"/>
              <a:t> KEN)</a:t>
            </a:r>
          </a:p>
          <a:p>
            <a:pPr lvl="1">
              <a:spcAft>
                <a:spcPts val="400"/>
              </a:spcAft>
              <a:defRPr sz="1200">
                <a:solidFill>
                  <a:srgbClr val="757575"/>
                </a:solidFill>
                <a:latin typeface="Calibri"/>
              </a:defRPr>
            </a:pPr>
            <a:r>
              <a:rPr dirty="0"/>
              <a:t>Higher volatility + thinner markets + conflict exposure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endParaRPr dirty="0"/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rPr dirty="0"/>
              <a:t>No data leakage — all features properly lagged by horizon</a:t>
            </a:r>
          </a:p>
          <a:p>
            <a:pPr lvl="1">
              <a:spcAft>
                <a:spcPts val="400"/>
              </a:spcAft>
              <a:defRPr sz="1200">
                <a:solidFill>
                  <a:srgbClr val="757575"/>
                </a:solidFill>
                <a:latin typeface="Calibri"/>
              </a:defRPr>
            </a:pPr>
            <a:r>
              <a:rPr dirty="0"/>
              <a:t>Leakage-free model performs as well as naïve version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2801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Calibri"/>
              </a:defRPr>
            </a:pPr>
            <a:r>
              <a:t>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rPr dirty="0"/>
              <a:t>Expand to Ethiopia (ETH)</a:t>
            </a:r>
          </a:p>
          <a:p>
            <a:pPr lvl="1">
              <a:spcAft>
                <a:spcPts val="400"/>
              </a:spcAft>
              <a:defRPr sz="1200">
                <a:solidFill>
                  <a:srgbClr val="757575"/>
                </a:solidFill>
                <a:latin typeface="Calibri"/>
              </a:defRPr>
            </a:pPr>
            <a:r>
              <a:rPr dirty="0"/>
              <a:t>Pipeline ready — needs Admin2 price data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endParaRPr dirty="0"/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rPr dirty="0"/>
              <a:t>Compare model architectures</a:t>
            </a:r>
          </a:p>
          <a:p>
            <a:pPr lvl="1">
              <a:spcAft>
                <a:spcPts val="400"/>
              </a:spcAft>
              <a:defRPr sz="1200">
                <a:solidFill>
                  <a:srgbClr val="757575"/>
                </a:solidFill>
                <a:latin typeface="Calibri"/>
              </a:defRPr>
            </a:pPr>
            <a:r>
              <a:rPr dirty="0"/>
              <a:t>LSTM / Transformer for temporal dependencies</a:t>
            </a:r>
          </a:p>
          <a:p>
            <a:pPr lvl="1">
              <a:spcAft>
                <a:spcPts val="400"/>
              </a:spcAft>
              <a:defRPr sz="1200">
                <a:solidFill>
                  <a:srgbClr val="757575"/>
                </a:solidFill>
                <a:latin typeface="Calibri"/>
              </a:defRPr>
            </a:pPr>
            <a:r>
              <a:rPr dirty="0" err="1"/>
              <a:t>LightGBM</a:t>
            </a:r>
            <a:r>
              <a:rPr dirty="0"/>
              <a:t> / </a:t>
            </a:r>
            <a:r>
              <a:rPr dirty="0" err="1"/>
              <a:t>CatBoost</a:t>
            </a:r>
            <a:r>
              <a:rPr dirty="0"/>
              <a:t> for tabular baseline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endParaRPr dirty="0"/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rPr dirty="0"/>
              <a:t>Expanding-window temporal CV</a:t>
            </a:r>
          </a:p>
          <a:p>
            <a:pPr lvl="1">
              <a:spcAft>
                <a:spcPts val="400"/>
              </a:spcAft>
              <a:defRPr sz="1200">
                <a:solidFill>
                  <a:srgbClr val="757575"/>
                </a:solidFill>
                <a:latin typeface="Calibri"/>
              </a:defRPr>
            </a:pPr>
            <a:r>
              <a:rPr dirty="0"/>
              <a:t>Test stability across crisis periods</a:t>
            </a:r>
          </a:p>
          <a:p>
            <a:pPr lvl="1">
              <a:spcAft>
                <a:spcPts val="400"/>
              </a:spcAft>
              <a:defRPr sz="1200">
                <a:solidFill>
                  <a:srgbClr val="757575"/>
                </a:solidFill>
                <a:latin typeface="Calibri"/>
              </a:defRPr>
            </a:pPr>
            <a:r>
              <a:rPr dirty="0"/>
              <a:t>(2011 Horn of Africa, 2020 COVID, 2022 Ukraine)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endParaRPr dirty="0"/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rPr dirty="0"/>
              <a:t>Early warning system prototype</a:t>
            </a:r>
          </a:p>
          <a:p>
            <a:pPr lvl="1">
              <a:spcAft>
                <a:spcPts val="400"/>
              </a:spcAft>
              <a:defRPr sz="1200">
                <a:solidFill>
                  <a:srgbClr val="757575"/>
                </a:solidFill>
                <a:latin typeface="Calibri"/>
              </a:defRPr>
            </a:pPr>
            <a:r>
              <a:rPr dirty="0"/>
              <a:t>Flag Admin2 regions with predicted price spike</a:t>
            </a:r>
          </a:p>
          <a:p>
            <a:pPr lvl="1">
              <a:spcAft>
                <a:spcPts val="400"/>
              </a:spcAft>
              <a:defRPr sz="1200">
                <a:solidFill>
                  <a:srgbClr val="757575"/>
                </a:solidFill>
                <a:latin typeface="Calibri"/>
              </a:defRPr>
            </a:pPr>
            <a:r>
              <a:rPr dirty="0"/>
              <a:t>Integrate FEWS NET IPC phase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1485</Words>
  <Application>Microsoft Macintosh PowerPoint</Application>
  <PresentationFormat>Widescreen</PresentationFormat>
  <Paragraphs>253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Halim Jun</cp:lastModifiedBy>
  <cp:revision>5</cp:revision>
  <dcterms:created xsi:type="dcterms:W3CDTF">2013-01-27T09:14:16Z</dcterms:created>
  <dcterms:modified xsi:type="dcterms:W3CDTF">2026-03-13T06:59:59Z</dcterms:modified>
  <cp:category/>
</cp:coreProperties>
</file>