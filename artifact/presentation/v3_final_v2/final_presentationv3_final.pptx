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0" r:id="rId3"/>
    <p:sldId id="258" r:id="rId4"/>
    <p:sldId id="281" r:id="rId5"/>
    <p:sldId id="260" r:id="rId6"/>
    <p:sldId id="263" r:id="rId7"/>
    <p:sldId id="267" r:id="rId8"/>
    <p:sldId id="288" r:id="rId9"/>
    <p:sldId id="271" r:id="rId10"/>
    <p:sldId id="274" r:id="rId11"/>
    <p:sldId id="276" r:id="rId12"/>
    <p:sldId id="277" r:id="rId13"/>
    <p:sldId id="27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B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3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Subnational Food Price Prediction</a:t>
            </a:r>
            <a:br/>
            <a:r>
              <a:t>in East Africa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Integrating Climate, Conflict, and Socioeconomic Data for Admin2-Level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657600" cy="27432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Kenya  &amp;  Somalia  |  XGBoost (Gradient Boosting)  |  Spatio-Temporal Cross-Validation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05200" cy="4114800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48640" cy="38100"/>
          </a:xfrm>
          <a:prstGeom prst="rect">
            <a:avLst/>
          </a:prstGeom>
          <a:solidFill>
            <a:srgbClr val="5C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13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139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0B8C8"/>
                </a:solidFill>
                <a:latin typeface="Calibri"/>
              </a:rPr>
              <a:t>8 data sources merged at Admin2 level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4AD"/>
                </a:solidFill>
                <a:latin typeface="Calibri"/>
              </a:rPr>
              <a:t>Format:  Data type — Source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8A94A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Climate (SPI)  — CHIRPS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Soil moisture / temp  — FLDAS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Vegetation (NDVI)  — MODIS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Conflict events  — ACLED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Food prices  — WFP / World Bank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Food security (IPC)  — FEWS NET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Night lights  — NASA Black Marble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Crop fraction  — Dynamic World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91000" y="1188720"/>
            <a:ext cx="3505200" cy="4114800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3880" y="1371600"/>
            <a:ext cx="548640" cy="38100"/>
          </a:xfrm>
          <a:prstGeom prst="rect">
            <a:avLst/>
          </a:prstGeom>
          <a:solidFill>
            <a:srgbClr val="F59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3880" y="1508760"/>
            <a:ext cx="313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3880" y="2011680"/>
            <a:ext cx="3139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0B8C8"/>
                </a:solidFill>
                <a:latin typeface="Calibri"/>
              </a:rPr>
              <a:t>Admin2-level price prediction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0B8C8"/>
                </a:solidFill>
                <a:latin typeface="Calibri"/>
              </a:rPr>
              <a:t>at 1, 2, 3 month horizons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 Target Variables:</a:t>
            </a:r>
          </a:p>
          <a:p>
            <a:pPr algn="l">
              <a:spcAft>
                <a:spcPts val="400"/>
              </a:spcAft>
            </a:pPr>
            <a:endParaRPr sz="1300" b="1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59E4E"/>
                </a:solidFill>
                <a:latin typeface="Calibri"/>
              </a:rPr>
              <a:t>  Food Price Index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59E4E"/>
                </a:solidFill>
                <a:latin typeface="Calibri"/>
              </a:rPr>
              <a:t>  Maize (FAO)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59E4E"/>
                </a:solidFill>
                <a:latin typeface="Calibri"/>
              </a:rPr>
              <a:t>  Sorghum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F59E4E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Countries:</a:t>
            </a:r>
          </a:p>
          <a:p>
            <a:pPr algn="l">
              <a:spcAft>
                <a:spcPts val="400"/>
              </a:spcAft>
            </a:pPr>
            <a:endParaRPr sz="1300" b="1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Kenya  &amp;  Somalia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4800" y="1188720"/>
            <a:ext cx="3505200" cy="4114800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07680" y="1371600"/>
            <a:ext cx="54864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07680" y="1508760"/>
            <a:ext cx="313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680" y="2011680"/>
            <a:ext cx="3139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B0B8C8"/>
                </a:solidFill>
                <a:latin typeface="Calibri"/>
              </a:rPr>
              <a:t>XGBoost</a:t>
            </a:r>
            <a:r>
              <a:rPr sz="1300" b="0" dirty="0">
                <a:solidFill>
                  <a:srgbClr val="B0B8C8"/>
                </a:solidFill>
                <a:latin typeface="Calibri"/>
              </a:rPr>
              <a:t> (Gradient Boosting)</a:t>
            </a:r>
          </a:p>
          <a:p>
            <a:pPr algn="l">
              <a:spcAft>
                <a:spcPts val="400"/>
              </a:spcAft>
            </a:pPr>
            <a:endParaRPr sz="1300" b="0" dirty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FFFFFF"/>
                </a:solidFill>
                <a:latin typeface="Calibri"/>
              </a:rPr>
              <a:t>Evaluation:</a:t>
            </a:r>
          </a:p>
          <a:p>
            <a:pPr algn="l">
              <a:spcAft>
                <a:spcPts val="400"/>
              </a:spcAft>
            </a:pPr>
            <a:endParaRPr sz="1300" b="1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4E9AF5"/>
                </a:solidFill>
                <a:latin typeface="Calibri"/>
              </a:rPr>
              <a:t>  </a:t>
            </a:r>
            <a:r>
              <a:rPr sz="1200" b="0" dirty="0" err="1">
                <a:solidFill>
                  <a:srgbClr val="4E9AF5"/>
                </a:solidFill>
                <a:latin typeface="Calibri"/>
              </a:rPr>
              <a:t>Spatio</a:t>
            </a:r>
            <a:r>
              <a:rPr sz="1200" b="0" dirty="0">
                <a:solidFill>
                  <a:srgbClr val="4E9AF5"/>
                </a:solidFill>
                <a:latin typeface="Calibri"/>
              </a:rPr>
              <a:t>-Temporal CV</a:t>
            </a:r>
          </a:p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B0B8C8"/>
                </a:solidFill>
                <a:latin typeface="Calibri"/>
              </a:rPr>
              <a:t>  (Leave-Disc-Out spatial folds</a:t>
            </a:r>
          </a:p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B0B8C8"/>
                </a:solidFill>
                <a:latin typeface="Calibri"/>
              </a:rPr>
              <a:t>   + Expanding-window temporal)</a:t>
            </a:r>
          </a:p>
          <a:p>
            <a:pPr algn="l">
              <a:spcAft>
                <a:spcPts val="400"/>
              </a:spcAft>
            </a:pPr>
            <a:endParaRPr sz="1100" b="0" dirty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4E9AF5"/>
                </a:solidFill>
                <a:latin typeface="Calibri"/>
              </a:rPr>
              <a:t>  Holdout evaluation (2024+)</a:t>
            </a:r>
          </a:p>
          <a:p>
            <a:pPr algn="l">
              <a:spcAft>
                <a:spcPts val="400"/>
              </a:spcAft>
            </a:pPr>
            <a:endParaRPr sz="1200" b="0" dirty="0">
              <a:solidFill>
                <a:srgbClr val="4E9AF5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FFFFFF"/>
                </a:solidFill>
                <a:latin typeface="Calibri"/>
              </a:rPr>
              <a:t>Dashboard: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B0B8C8"/>
                </a:solidFill>
                <a:latin typeface="Calibri"/>
              </a:rPr>
              <a:t>  </a:t>
            </a:r>
            <a:r>
              <a:rPr sz="1200" b="0" dirty="0" err="1">
                <a:solidFill>
                  <a:srgbClr val="B0B8C8"/>
                </a:solidFill>
                <a:latin typeface="Calibri"/>
              </a:rPr>
              <a:t>Next.js</a:t>
            </a:r>
            <a:r>
              <a:rPr sz="1200" b="0" dirty="0">
                <a:solidFill>
                  <a:srgbClr val="B0B8C8"/>
                </a:solidFill>
                <a:latin typeface="Calibri"/>
              </a:rPr>
              <a:t> + </a:t>
            </a:r>
            <a:r>
              <a:rPr sz="1200" b="0" dirty="0" err="1">
                <a:solidFill>
                  <a:srgbClr val="B0B8C8"/>
                </a:solidFill>
                <a:latin typeface="Calibri"/>
              </a:rPr>
              <a:t>FastAPI</a:t>
            </a:r>
            <a:endParaRPr sz="1200" b="0" dirty="0">
              <a:solidFill>
                <a:srgbClr val="B0B8C8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5830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Problem Definition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0995" y="2543308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20995" y="2543308"/>
            <a:ext cx="3474720" cy="54864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315" y="2726188"/>
            <a:ext cx="3017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E9AF5"/>
                </a:solidFill>
                <a:latin typeface="Calibri"/>
              </a:defRPr>
            </a:pPr>
            <a:r>
              <a:rPr lang="en-US" dirty="0"/>
              <a:t>Prediction of price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95315" y="318338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rPr dirty="0"/>
              <a:t>Food Price Index</a:t>
            </a:r>
            <a:br>
              <a:rPr dirty="0"/>
            </a:br>
            <a:r>
              <a:rPr dirty="0"/>
              <a:t>Maize</a:t>
            </a:r>
            <a:br>
              <a:rPr dirty="0"/>
            </a:br>
            <a:r>
              <a:rPr dirty="0"/>
              <a:t>Sorghum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475" y="2543308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61475" y="2543308"/>
            <a:ext cx="347472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5795" y="27261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EC9B0"/>
                </a:solidFill>
                <a:latin typeface="Calibri"/>
              </a:defRPr>
            </a:pPr>
            <a:r>
              <a:t>3 Horizons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5795" y="318338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1 month ahead</a:t>
            </a:r>
            <a:br/>
            <a:r>
              <a:t>2 months ahead</a:t>
            </a:r>
            <a:br/>
            <a:r>
              <a:t>3 months ahead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01955" y="2543308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01955" y="2543308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76275" y="27261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2 Countries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275" y="318338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rPr dirty="0"/>
              <a:t>Kenya</a:t>
            </a:r>
            <a:br>
              <a:rPr dirty="0"/>
            </a:br>
            <a:r>
              <a:rPr dirty="0"/>
              <a:t>Somalia</a:t>
            </a:r>
            <a:br>
              <a:rPr dirty="0"/>
            </a:br>
            <a:r>
              <a:rPr dirty="0"/>
              <a:t>Admin2 (district) level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Model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486400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" cy="38100"/>
          </a:xfrm>
          <a:prstGeom prst="rect">
            <a:avLst/>
          </a:prstGeom>
          <a:solidFill>
            <a:srgbClr val="5C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3381"/>
            <a:ext cx="5120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dirty="0">
                <a:solidFill>
                  <a:srgbClr val="FFFFFF"/>
                </a:solidFill>
                <a:latin typeface="Calibri"/>
              </a:rPr>
              <a:t>Improve the model performance with</a:t>
            </a:r>
          </a:p>
          <a:p>
            <a:pPr algn="l"/>
            <a:r>
              <a:rPr lang="en-US" altLang="ko-KR" b="1" dirty="0" err="1">
                <a:solidFill>
                  <a:srgbClr val="FFFFFF"/>
                </a:solidFill>
                <a:latin typeface="Calibri"/>
              </a:rPr>
              <a:t>Spatio</a:t>
            </a:r>
            <a:r>
              <a:rPr lang="en-US" altLang="ko-KR" b="1" dirty="0">
                <a:solidFill>
                  <a:srgbClr val="FFFFFF"/>
                </a:solidFill>
                <a:latin typeface="Calibri"/>
              </a:rPr>
              <a:t>/temporal cross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12399"/>
            <a:ext cx="5120640" cy="51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B0B8C8"/>
                </a:solidFill>
                <a:latin typeface="Calibri"/>
              </a:rPr>
              <a:t>Spatial:  Leave-Disc-Out (5 folds, 350km radius)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B0B8C8"/>
                </a:solidFill>
                <a:latin typeface="Calibri"/>
              </a:rPr>
              <a:t>Temporal:  Expanding window (3 folds)</a:t>
            </a:r>
            <a:endParaRPr lang="ko-KR" altLang="en-US" sz="1200" b="0" dirty="0">
              <a:solidFill>
                <a:srgbClr val="B0B8C8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3200400"/>
            <a:ext cx="4754880" cy="12700"/>
          </a:xfrm>
          <a:prstGeom prst="rect">
            <a:avLst/>
          </a:prstGeom>
          <a:solidFill>
            <a:srgbClr val="3A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365760" cy="38100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Leakage Prevention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Price features:  lag 1,2,3,6,12 months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+ rolling means/stds + YoY change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06C75"/>
                </a:solidFill>
                <a:latin typeface="Calibri"/>
              </a:rPr>
              <a:t>Exogenous features:  ALL lagged by h months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(conflict, FLDAS, vegetation, climate)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12-month warmup:  drops first 12 rows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per admin2 to build lag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097280"/>
            <a:ext cx="5334000" cy="5486400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0" y="1280160"/>
            <a:ext cx="36576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496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4968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 err="1">
                <a:solidFill>
                  <a:srgbClr val="4E9AF5"/>
                </a:solidFill>
                <a:latin typeface="Calibri"/>
              </a:rPr>
              <a:t>Spatio</a:t>
            </a:r>
            <a:r>
              <a:rPr sz="1300" b="1" dirty="0">
                <a:solidFill>
                  <a:srgbClr val="4E9AF5"/>
                </a:solidFill>
                <a:latin typeface="Calibri"/>
              </a:rPr>
              <a:t>-Temporal CV Results</a:t>
            </a:r>
          </a:p>
          <a:p>
            <a:pPr algn="l">
              <a:spcAft>
                <a:spcPts val="400"/>
              </a:spcAft>
            </a:pPr>
            <a:endParaRPr sz="1300" b="1" dirty="0">
              <a:solidFill>
                <a:srgbClr val="4E9AF5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8A94AD"/>
                </a:solidFill>
                <a:latin typeface="Calibri"/>
              </a:rPr>
              <a:t>(metrics placeholder — add your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8A94AD"/>
                </a:solidFill>
                <a:latin typeface="Calibri"/>
              </a:rPr>
              <a:t> actual R², MAPE, RMSE here)</a:t>
            </a:r>
          </a:p>
          <a:p>
            <a:pPr algn="l">
              <a:spcAft>
                <a:spcPts val="400"/>
              </a:spcAft>
            </a:pPr>
            <a:endParaRPr sz="1200" b="0" dirty="0">
              <a:solidFill>
                <a:srgbClr val="8A94A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4E9AF5"/>
                </a:solidFill>
                <a:latin typeface="Calibri"/>
              </a:rPr>
              <a:t>Holdout Evaluation (2024+)</a:t>
            </a:r>
          </a:p>
          <a:p>
            <a:pPr algn="l">
              <a:spcAft>
                <a:spcPts val="400"/>
              </a:spcAft>
            </a:pPr>
            <a:endParaRPr sz="1300" b="1" dirty="0">
              <a:solidFill>
                <a:srgbClr val="4E9AF5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8A94AD"/>
                </a:solidFill>
                <a:latin typeface="Calibri"/>
              </a:rPr>
              <a:t>(metrics placeholder — add your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8A94AD"/>
                </a:solidFill>
                <a:latin typeface="Calibri"/>
              </a:rPr>
              <a:t> actual results here)</a:t>
            </a:r>
          </a:p>
          <a:p>
            <a:pPr algn="l">
              <a:spcAft>
                <a:spcPts val="400"/>
              </a:spcAft>
            </a:pPr>
            <a:endParaRPr sz="1200" b="0" dirty="0">
              <a:solidFill>
                <a:srgbClr val="8A94A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4E9AF5"/>
                </a:solidFill>
                <a:latin typeface="Calibri"/>
              </a:rPr>
              <a:t>Per-Country Breakdown</a:t>
            </a:r>
          </a:p>
          <a:p>
            <a:pPr algn="l">
              <a:spcAft>
                <a:spcPts val="400"/>
              </a:spcAft>
            </a:pPr>
            <a:endParaRPr sz="1300" b="1" dirty="0">
              <a:solidFill>
                <a:srgbClr val="4E9AF5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B0B8C8"/>
                </a:solidFill>
                <a:latin typeface="Calibri"/>
              </a:rPr>
              <a:t>  Kenya:    (add metrics)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B0B8C8"/>
                </a:solidFill>
                <a:latin typeface="Calibri"/>
              </a:rPr>
              <a:t>  Somalia:  (add metrics)</a:t>
            </a:r>
          </a:p>
        </p:txBody>
      </p:sp>
    </p:spTree>
    <p:extLst>
      <p:ext uri="{BB962C8B-B14F-4D97-AF65-F5344CB8AC3E}">
        <p14:creationId xmlns:p14="http://schemas.microsoft.com/office/powerpoint/2010/main" val="1985163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Sources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64021"/>
              </p:ext>
            </p:extLst>
          </p:nvPr>
        </p:nvGraphicFramePr>
        <p:xfrm>
          <a:off x="274320" y="100584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Provider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Variables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Resolution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(Food Prices)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WFP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(World Food Programme)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World Bank</a:t>
                      </a:r>
                      <a:endParaRPr dirty="0"/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Food Price Index, Maize, Sorghum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Market → District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Rainfall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CHIRPS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(Satellite Rainfall)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UCSB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SPI (Drought Index)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5km → District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Hydrology /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Temperature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FLDAS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(Land Surface Model)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NASA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Soil moisture, Air temp,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Runoff, Evapotranspiration (8 vars)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District monthly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Vegetation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Health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MODIS / AVHRR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(Satellite Imagery)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NASA / NOAA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NDVI (Greenness), LST (Surface Temp),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VHI (Vegetation Health)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District monthly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Global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Climate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ENSO / IOD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(Ocean-Atmosphere)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NOAA / IRI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rPr dirty="0"/>
                        <a:t>El Nino Index, </a:t>
                      </a:r>
                      <a:r>
                        <a:rPr lang="en-US" dirty="0"/>
                        <a:t>*</a:t>
                      </a:r>
                      <a:r>
                        <a:rPr dirty="0"/>
                        <a:t>Indian Ocean Dipole</a:t>
                      </a:r>
                      <a:r>
                        <a:rPr lang="en-US" dirty="0"/>
                        <a:t> </a:t>
                      </a:r>
                      <a:endParaRPr dirty="0"/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rPr dirty="0"/>
                        <a:t>Multivariate ENSO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Elnino</a:t>
                      </a:r>
                      <a:r>
                        <a:rPr lang="en-US" dirty="0"/>
                        <a:t> southern </a:t>
                      </a:r>
                      <a:r>
                        <a:rPr lang="en-US" dirty="0" err="1"/>
                        <a:t>osciliation</a:t>
                      </a:r>
                      <a:r>
                        <a:rPr lang="en-US" dirty="0"/>
                        <a:t>)</a:t>
                      </a:r>
                      <a:r>
                        <a:rPr dirty="0"/>
                        <a:t> Index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Global monthly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Conflict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ACLED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(Conflict Event Data)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ACLED Project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Event count, Fatalities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Point → District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SPAM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(Crop Presence Map)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CIMMYT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Crop cover fraction per district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500m (static)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Population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WorldPop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(Population Estimate)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WorldPop Hub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Population count per district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rPr dirty="0"/>
                        <a:t>1km (static)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-1852191" y="612648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rPr dirty="0"/>
              <a:t>All sources spatially aligned to district (Admin2) boundaries  |  Temporal coverage: 2007–2025</a:t>
            </a:r>
            <a:endParaRPr lang="en-US" dirty="0"/>
          </a:p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rPr lang="en-US" altLang="ko-KR" sz="1100" b="1" dirty="0"/>
              <a:t>*irregular oscillation of sea surface temperatures</a:t>
            </a:r>
            <a:r>
              <a:rPr lang="en-US" altLang="ko-KR" sz="1100" dirty="0"/>
              <a:t> 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End-to-End Architecture</a:t>
            </a:r>
          </a:p>
        </p:txBody>
      </p:sp>
      <p:pic>
        <p:nvPicPr>
          <p:cNvPr id="3" name="Picture 2" descr="data_flow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7200" y="914400"/>
            <a:ext cx="11247120" cy="5212080"/>
          </a:xfrm>
          <a:prstGeom prst="rect">
            <a:avLst/>
          </a:prstGeom>
        </p:spPr>
      </p:pic>
      <p:pic>
        <p:nvPicPr>
          <p:cNvPr id="4" name="Picture 3" descr="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Lag Strategy &amp; Feature Engineering</a:t>
            </a:r>
          </a:p>
        </p:txBody>
      </p:sp>
      <p:pic>
        <p:nvPicPr>
          <p:cNvPr id="3" name="Picture 2" descr="lag_strategy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4320" y="822960"/>
            <a:ext cx="11430000" cy="3840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4846320"/>
            <a:ext cx="112471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9AF5"/>
                </a:solidFill>
                <a:latin typeface="Calibri"/>
              </a:defRPr>
            </a:pPr>
            <a:r>
              <a:t>Past Price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1,2,3,6,12 month lags +</a:t>
            </a:r>
            <a:br/>
            <a:r>
              <a:t>rolling averages + year-over-year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Calibri"/>
              </a:defRPr>
            </a:pPr>
            <a:r>
              <a:t>External Feature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Climate/conflict features shifted</a:t>
            </a:r>
            <a:br/>
            <a:r>
              <a:t>by forecast horizon (prevents leakage)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Seasonal 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Cyclical month encoding</a:t>
            </a:r>
            <a:br/>
            <a:r>
              <a:t>(sine/cosine transformation)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75"/>
                </a:solidFill>
                <a:latin typeface="Calibri"/>
              </a:defRPr>
            </a:pPr>
            <a:r>
              <a:t>Warmup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Drop first 12 months per district</a:t>
            </a:r>
            <a:br/>
            <a:r>
              <a:t>to build sufficient history</a:t>
            </a:r>
          </a:p>
        </p:txBody>
      </p:sp>
      <p:pic>
        <p:nvPicPr>
          <p:cNvPr id="13" name="Picture 12" descr="lag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4300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25DD37-5370-3C2C-F9B5-540C04D55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49C95B-2EF6-0B03-AF38-91029EBD1A35}"/>
              </a:ext>
            </a:extLst>
          </p:cNvPr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Spatio</a:t>
            </a:r>
            <a:r>
              <a:rPr dirty="0"/>
              <a:t>-Temporal Cross-Validation Design</a:t>
            </a:r>
          </a:p>
        </p:txBody>
      </p:sp>
      <p:pic>
        <p:nvPicPr>
          <p:cNvPr id="9" name="Picture 8" descr="cv_design.png">
            <a:extLst>
              <a:ext uri="{FF2B5EF4-FFF2-40B4-BE49-F238E27FC236}">
                <a16:creationId xmlns:a16="http://schemas.microsoft.com/office/drawing/2014/main" id="{CEA354DB-A145-7D7F-07CF-53917FDD0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09" y="1097280"/>
            <a:ext cx="11259879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604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Hold-Out Test Results (2024+)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Train on all data before 2024, test on 2024+ — simulates real-world deployment</a:t>
            </a:r>
          </a:p>
        </p:txBody>
      </p:sp>
      <p:pic>
        <p:nvPicPr>
          <p:cNvPr id="4" name="Picture 3" descr="holdout_r2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82880" y="1097280"/>
            <a:ext cx="5943600" cy="5303520"/>
          </a:xfrm>
          <a:prstGeom prst="rect">
            <a:avLst/>
          </a:prstGeom>
        </p:spPr>
      </p:pic>
      <p:pic>
        <p:nvPicPr>
          <p:cNvPr id="5" name="Picture 4" descr="holdout_mape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126480" y="1097280"/>
            <a:ext cx="5943600" cy="5303520"/>
          </a:xfrm>
          <a:prstGeom prst="rect">
            <a:avLst/>
          </a:prstGeom>
        </p:spPr>
      </p:pic>
      <p:pic>
        <p:nvPicPr>
          <p:cNvPr id="6" name="Picture 5" descr="holdout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943600" cy="5303520"/>
          </a:xfrm>
          <a:prstGeom prst="rect">
            <a:avLst/>
          </a:prstGeom>
        </p:spPr>
      </p:pic>
      <p:pic>
        <p:nvPicPr>
          <p:cNvPr id="7" name="Picture 6" descr="holdout_m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943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Feature Group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0" y="914400"/>
            <a:ext cx="103327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Past price history dominates (77–94%)  |  Land surface &amp; climate contribute 10–20% for commodity prices</a:t>
            </a:r>
            <a:br/>
            <a:r>
              <a:t>At longer horizons, external features (climate, conflict) gain relative importance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3327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Detailed Spatio-Temporal CV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15 folds (5 spatial × 3 temporal) per target × horizon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Horizon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(Variance Explained)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MAPE (% Error)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(Prediction Error)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Food Price Index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h=1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0.04 ± 0.82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9.86% ± 7.03%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0.191 ± 0.142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Food Price Index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h=2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-0.26 ± 1.00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11.85% ± 7.80%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0.220 ± 0.153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Food Price Index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h=3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-0.54 ± 1.02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13.43% ± 8.06%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0.242 ± 0.156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Maize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h=1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0.77 ± 0.29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7.35% ± 2.67%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3,732 ± 3,010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Maize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h=2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0.69 ± 0.32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10.01% ± 2.78%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4,477 ± 3,050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Maize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h=3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0.61 ± 0.33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12.26% ± 3.15%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4,987 ± 2,956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Sorghum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h=1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0.78 ± 0.27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9.01% ± 5.39%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3,178 ± 3,458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Sorghum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h=2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0.67 ± 0.32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12.85% ± 6.42%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3,797 ± 3,748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Sorghum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h=3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0.54 ± 0.33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16.20% ± 6.74%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4,289 ± 3,857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9144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9AF5"/>
                </a:solidFill>
                <a:latin typeface="Calibri"/>
              </a:defRPr>
            </a:pPr>
            <a:r>
              <a:t>Multi-Source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8 heterogeneous sources (climate, conflict, satellite, economic) → unified district-level panel for Kenya &amp; Somalia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39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48839"/>
            <a:ext cx="73152" cy="914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40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Calibri"/>
              </a:defRPr>
            </a:pPr>
            <a:r>
              <a:t>Rigorous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3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Spatio-Temporal Cross-Validation (350km spatial separation × expanding time window) prevents data leakage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Strong Predictive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Hold-out R² (variance explained) &gt; 0.91 for all targets; Maize at 1-month achieves R² = 0.989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1959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251959"/>
            <a:ext cx="73152" cy="914400"/>
          </a:xfrm>
          <a:prstGeom prst="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3433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5D75"/>
                </a:solidFill>
                <a:latin typeface="Calibri"/>
              </a:defRPr>
            </a:pPr>
            <a:r>
              <a:t>Country-Level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0915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Kenya predictions more accurate than Somalia — likely due to data availability, lower conflict, more stable markets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0352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73152" cy="914400"/>
          </a:xfrm>
          <a:prstGeom prst="rect">
            <a:avLst/>
          </a:prstGeom>
          <a:solidFill>
            <a:srgbClr val="A7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7BF3"/>
                </a:solidFill>
                <a:latin typeface="Calibri"/>
              </a:defRPr>
            </a:pPr>
            <a:r>
              <a:t>Forecast Horizon Trade-off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1-month forecast most reliable; 3-month forecast error (MAPE) increases by 5–10 percentage points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474720"/>
            <a:ext cx="2743200" cy="27432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939</Words>
  <Application>Microsoft Macintosh PowerPoint</Application>
  <PresentationFormat>와이드스크린</PresentationFormat>
  <Paragraphs>222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Halim Jun</cp:lastModifiedBy>
  <cp:revision>8</cp:revision>
  <dcterms:created xsi:type="dcterms:W3CDTF">2013-01-27T09:14:16Z</dcterms:created>
  <dcterms:modified xsi:type="dcterms:W3CDTF">2026-05-06T15:44:27Z</dcterms:modified>
  <cp:category/>
</cp:coreProperties>
</file>