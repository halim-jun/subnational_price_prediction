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Subnational Food Price Prediction</a:t>
            </a:r>
            <a:br/>
            <a:r>
              <a:t>in East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Integrating Climate, Conflict, and Socioeconomic Data at Admin2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06240"/>
            <a:ext cx="4846320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Kenya  ·  Somalia  |  2007–2025  | 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96F3"/>
                </a:solidFill>
                <a:latin typeface="Calibri"/>
              </a:defRPr>
            </a:pPr>
            <a:r>
              <a:t>Mid-Project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200400"/>
                <a:gridCol w="201168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Target (Price)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WFP VAM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Maize price, Sorghum price,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Market-level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→ Admin2 mean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2007–2026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KEN, SOM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Climate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(Hydrology)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FLDAS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(NASA)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Temperature, Soil Moisture,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Precipitation, Evaporation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(3-month Z-scores, 8 vars)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Admin2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(zonal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Vegetation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MODIS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(Google Earth Engine)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NDVI, LST, VHI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Admin2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(zonal mean)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Climate Indices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NOAA / 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NINO3.4, IOD, MEI,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Western V 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(broadcast)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Conflict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ACLED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Event count, Fatalities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Point → Admin2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(spatial join)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WorldPop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Population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1km raster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→ Admin2 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2020 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Cropland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ASAP (JRC)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Crop cover fraction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250m raster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→ Admin2 mean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Static (2023)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Variable Design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Why these variables?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Causal chain:  Climate → Crop health → Supply → Price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FLDAS 3-month Z-scores: balance between noise (1m) and lag (6m)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Dropped redundant features to reduce multicollinearity: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RadT ↔ Tair (r=0.92), EVI ↔ NDVI (r=0.97)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SoilMoi00_40cm ≈ linear combo of 00_10 + 10_40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Total_Runoff ↔ Qs (r=0.93)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VHI kept as composite of VCI + TCI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Feature groups (31 total at h=1)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50292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Autoregressive (15)  —  lag_1/2/3/6/12 + rolling mean/std</a:t>
            </a:r>
            <a:br/>
            <a:r>
              <a:t>+ year-over-year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5029200" cy="5029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FLDAS (8)  —  Temp, Soil Moisture (2 depths),</a:t>
            </a:r>
            <a:br/>
            <a:r>
              <a:t>Rainfall, Evap, Runoff (2), Water Balance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02920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Vegetation (3)  —  NDVI, LST, VHI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029200" cy="502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Climate Indices (4)  —  NINO3.4, IOD, Western V, MEI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029200" cy="5029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Conflict (2)  —  Event count, Fatalities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029200" cy="502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Static (2)  —  Population, Crop cover fraction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20640"/>
            <a:ext cx="5029200" cy="50292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Temporal (2)  —  sin/cos month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669279"/>
            <a:ext cx="5029200" cy="502920"/>
          </a:xfrm>
          <a:prstGeom prst="round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Spatial ID (2)  —  Country, Admin2 (encoded)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Key: All exogenous features (climate, conflict, vegetation) are lagged by forecast horizon h months</a:t>
            </a:r>
            <a:br/>
            <a:r>
              <a:t>→ No data leakage: only information available at prediction time is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Spatial Integration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All datasets unified to Admin2 level via GeoBoundaries polygons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WFP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745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Spatial join (point-in-polygon)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Per-country join to prevent</a:t>
            </a:r>
            <a:br/>
            <a:r>
              <a:t>cross-border misassignment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201168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ACLED Conflict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700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24327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Spatial join (point-in-polygon)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986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Centroid coordinates</a:t>
            </a:r>
            <a:br/>
            <a:r>
              <a:t>→ Admin2 polygons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28415"/>
            <a:ext cx="201168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WorldPop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41985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74135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Zonal statistics (raster → polygon)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484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Sum population within</a:t>
            </a:r>
            <a:br/>
            <a:r>
              <a:t>Admin2 (all_touched=True)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78224"/>
            <a:ext cx="201168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ASAP Crop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6966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2394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Direct name match + fuzzy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982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GeoBoundaries names as</a:t>
            </a:r>
            <a:br/>
            <a:r>
              <a:t>canonical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28032"/>
            <a:ext cx="201168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FLDAS / Vegetation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9194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7375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Pre-aggregated to Admin2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480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Zonal mean from raster</a:t>
            </a:r>
            <a:br/>
            <a:r>
              <a:t>in preprocessing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201168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Climate Indices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669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23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Broadcast (global)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897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Same monthly value for</a:t>
            </a:r>
            <a:br/>
            <a:r>
              <a:t>all Admin2 regions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828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Merge order: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2860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1. Skeleton: years × months × priced admins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2. ← Price aggregates (left join)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3. ← Population (left join on 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4. ← Crop cover (left join on 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5. ← ACLED conflict (left join on y/m/admin2)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6. ← FLDAS (left join on y/m/iso/admin2)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7. ← Vegetation (left join on y/m/iso/admin2)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8. ← Climate Indices (left join on y/m)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Merged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110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Admin2 regions</a:t>
            </a:r>
            <a:br/>
            <a:r>
              <a:t>(67 KEN + 43 SOM)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228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Months</a:t>
            </a:r>
            <a:br/>
            <a:r>
              <a:t>(2007-01 to 2025-12)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25,080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Total rows</a:t>
            </a:r>
            <a:br/>
            <a:r>
              <a:t>(110 × 228)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54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Columns</a:t>
            </a:r>
            <a:br/>
            <a:r>
              <a:t>(3 targets + 51 features)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Null values</a:t>
            </a:r>
            <a:br/>
            <a:r>
              <a:t>(100% complete)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Key design decisions: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298 Admin2 regions excluded — zero price observations (not WFP-monitored)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2026 rows dropped — future placeholder months with no feature data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Conflict NaN → 0 (no events = genuinely zero), Crop cover NaN → 0 (urban/desert)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All targets (food_price_index, maize, sorghum) have identical temporal coverage</a:t>
            </a:r>
          </a:p>
        </p:txBody>
      </p:sp>
      <p:pic>
        <p:nvPicPr>
          <p:cNvPr id="10" name="Picture 9" descr="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252374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Feature correlation matrix shows expected structure:</a:t>
            </a:r>
            <a:br/>
            <a:r>
              <a:t>• FLDAS soil moisture vars cluster together</a:t>
            </a:r>
            <a:br/>
            <a:r>
              <a:t>• NDVI inversely correlated with LST (r=-0.75)</a:t>
            </a:r>
            <a:br/>
            <a:r>
              <a:t>• Climate indices (NINO34, MEI) correlated (r=0.69)</a:t>
            </a:r>
            <a:br/>
            <a:r>
              <a:t>• Conflict weakly correlated with all other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XGBoost with Autoregressive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3 Targets: food_price_index, maize, sorghum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3 Horizons: h=1, h=2, h=3 months ahead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= 9 independent models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Temporal split: Train 2008–2023, Test 2024–2025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Early stopping on last 10% of train (≈2022–2023)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336"/>
                </a:solidFill>
                <a:latin typeface="Calibri"/>
              </a:defRPr>
            </a:pPr>
            <a:r>
              <a:t>Leakage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Price lags: only lag ≥ h available</a:t>
            </a:r>
          </a:p>
          <a:p>
            <a:pPr lvl="1">
              <a:spcAft>
                <a:spcPts val="4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t>h=1: lag_1,2,3,6,12</a:t>
            </a:r>
          </a:p>
          <a:p>
            <a:pPr lvl="1">
              <a:spcAft>
                <a:spcPts val="4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t>h=3: lag_3,6,12 only (lag_1,2 unknown)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Exogenous features: shifted by h months</a:t>
            </a:r>
          </a:p>
          <a:p>
            <a:pPr lvl="1">
              <a:spcAft>
                <a:spcPts val="4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t>e.g., h=3 uses NDVI, conflict from 3 months ago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Static features (population, cropland): always available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Raw 'year' excluded — tree models can't extrapolate trends</a:t>
            </a:r>
          </a:p>
        </p:txBody>
      </p:sp>
      <p:pic>
        <p:nvPicPr>
          <p:cNvPr id="7" name="Picture 6" descr="feature_group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1889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Autoregressive features dominate (~97%) — food prices are highly</a:t>
            </a:r>
            <a:br/>
            <a:r>
              <a:t>persistent. Exogenous features (climate, conflict) explain deviations</a:t>
            </a:r>
            <a:br/>
            <a:r>
              <a:t>from the trend — the signal that matters for early warning.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Performance: 3 Targets × 3 Horizons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64592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KEN MAPE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SOM MAPE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4.3%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336"/>
                          </a:solidFill>
                          <a:latin typeface="Calibri"/>
                        </a:defRPr>
                      </a:pPr>
                      <a:r>
                        <a:t>13.2%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336"/>
                          </a:solidFill>
                          <a:latin typeface="Calibri"/>
                        </a:defRPr>
                      </a:pPr>
                      <a:r>
                        <a:t>10.8%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336"/>
                          </a:solidFill>
                          <a:latin typeface="Calibri"/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Food Price Index is easiest to predict (normalized, cross-country comparable).  Sorghum in Somalia is hardest (h=3: 15.3% MAPE) — high volatility, thinner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 Degradation Across Horizons</a:t>
            </a:r>
          </a:p>
        </p:txBody>
      </p:sp>
      <p:pic>
        <p:nvPicPr>
          <p:cNvPr id="3" name="Picture 2" descr="horizon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67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 Shifts: h=1 → h=3</a:t>
            </a:r>
          </a:p>
        </p:txBody>
      </p:sp>
      <p:pic>
        <p:nvPicPr>
          <p:cNvPr id="3" name="Picture 2" descr="importanc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10120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As forecast horizon grows, autoregressive importance drops (98% → 91%) and exogenous features gain weight.  Climate indices and FLDAS roughly double their share.  Maize h=3: country_iso jumps to 7% (KEN vs SOM price scale difference).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Actual vs Predicted</a:t>
            </a:r>
          </a:p>
        </p:txBody>
      </p:sp>
      <p:pic>
        <p:nvPicPr>
          <p:cNvPr id="3" name="Picture 2" descr="actual_vs_predicte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98709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Where Does the Model Struggle?</a:t>
            </a:r>
          </a:p>
        </p:txBody>
      </p:sp>
      <p:pic>
        <p:nvPicPr>
          <p:cNvPr id="3" name="Picture 2" descr="worst_admin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669280" cy="4811706"/>
          </a:xfrm>
          <a:prstGeom prst="rect">
            <a:avLst/>
          </a:prstGeom>
        </p:spPr>
      </p:pic>
      <p:pic>
        <p:nvPicPr>
          <p:cNvPr id="4" name="Picture 3" descr="per_admin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7280"/>
            <a:ext cx="5943600" cy="77917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Temporal Error Patterns &amp; Price Regime Analysis</a:t>
            </a:r>
          </a:p>
        </p:txBody>
      </p:sp>
      <p:pic>
        <p:nvPicPr>
          <p:cNvPr id="3" name="Picture 2" descr="temporal_error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7347857"/>
          </a:xfrm>
          <a:prstGeom prst="rect">
            <a:avLst/>
          </a:prstGeom>
        </p:spPr>
      </p:pic>
      <p:pic>
        <p:nvPicPr>
          <p:cNvPr id="4" name="Picture 3" descr="spik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4754880" cy="158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66928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Price crashes (&lt;-1σ) and spikes (&gt;+1σ) show higher MAPE — the model is better at predicting stable periods than extreme deviations.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Sample Admin2 Time Series (Best &amp; Worst)</a:t>
            </a:r>
          </a:p>
        </p:txBody>
      </p:sp>
      <p:pic>
        <p:nvPicPr>
          <p:cNvPr id="3" name="Picture 2" descr="timeseries_food_price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5840"/>
            <a:ext cx="3931920" cy="4013010"/>
          </a:xfrm>
          <a:prstGeom prst="rect">
            <a:avLst/>
          </a:prstGeom>
        </p:spPr>
      </p:pic>
      <p:pic>
        <p:nvPicPr>
          <p:cNvPr id="4" name="Picture 3" descr="timeseries_ma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5840"/>
            <a:ext cx="3931920" cy="4013010"/>
          </a:xfrm>
          <a:prstGeom prst="rect">
            <a:avLst/>
          </a:prstGeom>
        </p:spPr>
      </p:pic>
      <p:pic>
        <p:nvPicPr>
          <p:cNvPr id="5" name="Picture 4" descr="timeseries_sorgh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05840"/>
            <a:ext cx="3931920" cy="40130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Residual Analysis (h=1)</a:t>
            </a:r>
          </a:p>
        </p:txBody>
      </p:sp>
      <p:pic>
        <p:nvPicPr>
          <p:cNvPr id="3" name="Picture 2" descr="residu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98562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Findings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Food prices are highly persistent — autoregressive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features dominate at ~97% importance (h=1)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Exogenous features gain importance at longer horizons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Climate indices + FLDAS double their share at h=3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Validates the climate → price transmission channel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Sorghum in Somalia is the hardest prediction task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h=3 MAPE: 15.3% (vs 5.1% for food_price_index KEN)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Higher volatility + thinner markets + conflict exposure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No data leakage — all features properly lagged by horizon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Leakage-free model performs as well as naïve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Expand to Ethiopia (ETH)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Pipeline ready — needs Admin2 price data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Compare model architectures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LSTM / Transformer for temporal dependencies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LightGBM / CatBoost for tabular baseline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Expanding-window temporal CV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Test stability across crisis periods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(2011 Horn of Africa, 2020 COVID, 2022 Ukraine)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Early warning system prototype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Flag Admin2 regions with predicted price spike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t>Integrate FEWS NET IPC phase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